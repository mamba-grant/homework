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350" r:id="rId3"/>
    <p:sldId id="462" r:id="rId5"/>
    <p:sldId id="463" r:id="rId6"/>
    <p:sldId id="464" r:id="rId7"/>
    <p:sldId id="465" r:id="rId8"/>
    <p:sldId id="405" r:id="rId9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80CA53-8740-4D8B-B7EB-9CDC893863BD}">
          <p14:sldIdLst>
            <p14:sldId id="350"/>
            <p14:sldId id="462"/>
            <p14:sldId id="463"/>
            <p14:sldId id="464"/>
            <p14:sldId id="465"/>
            <p14:sldId id="4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5396"/>
    <a:srgbClr val="68D100"/>
    <a:srgbClr val="0000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0" autoAdjust="0"/>
    <p:restoredTop sz="72585" autoAdjust="0"/>
  </p:normalViewPr>
  <p:slideViewPr>
    <p:cSldViewPr snapToGrid="0">
      <p:cViewPr varScale="1">
        <p:scale>
          <a:sx n="106" d="100"/>
          <a:sy n="106" d="100"/>
        </p:scale>
        <p:origin x="385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6226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92D6B-0A81-4C11-9841-BFF61694BA4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8A4C7-8F2B-41AD-825C-EB6D97A924A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98408767-58BA-4344-B49E-6E8F584B38DB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pPr indent="0" algn="r">
              <a:buNone/>
            </a:pPr>
            <a:fld id="{98408767-58BA-4344-B49E-6E8F584B38DB}" type="slidenum">
              <a:rPr lang="en-US" sz="1400" b="0" u="none" strike="noStrike" smtClean="0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57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4"/>
          </p:nvPr>
        </p:nvSpPr>
        <p:spPr>
          <a:xfrm>
            <a:off x="440208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DB9A83-B335-4A95-88FC-44FA00E82540}" type="slidenum">
              <a:rPr lang="en-US" sz="12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129856" y="4984302"/>
            <a:ext cx="950769" cy="6938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Holder 2"/>
          <p:cNvSpPr>
            <a:spLocks noGrp="1"/>
          </p:cNvSpPr>
          <p:nvPr>
            <p:ph idx="10"/>
          </p:nvPr>
        </p:nvSpPr>
        <p:spPr>
          <a:xfrm>
            <a:off x="838200" y="1326599"/>
            <a:ext cx="9047645" cy="36402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>
              <a:spcBef>
                <a:spcPts val="1415"/>
              </a:spcBef>
              <a:buNone/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-41564"/>
            <a:ext cx="610516" cy="57121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7"/>
          <p:cNvSpPr/>
          <p:nvPr userDrawn="1"/>
        </p:nvSpPr>
        <p:spPr>
          <a:xfrm>
            <a:off x="47082" y="5108400"/>
            <a:ext cx="527204" cy="4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BB54315-104C-4893-8F78-12C078FE1DCC}" type="slidenum">
              <a:rPr lang="en-US" sz="1200" b="1" i="1" u="none" strike="noStrike" smtClean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</a:fld>
            <a:r>
              <a:rPr lang="en-US" sz="1200" b="1" i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  <a:t> / 22</a:t>
            </a:r>
            <a:endParaRPr lang="en-US" sz="1200" b="0" u="none" strike="noStrike" dirty="0">
              <a:solidFill>
                <a:schemeClr val="bg1">
                  <a:lumMod val="95000"/>
                </a:schemeClr>
              </a:solidFill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10516" y="-41564"/>
            <a:ext cx="65184" cy="57121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200" y="226080"/>
            <a:ext cx="904764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solidFill>
                  <a:schemeClr val="accent1"/>
                </a:solidFill>
                <a:latin typeface="IBM Plex Sans" panose="020B0503050203000203" charset="0"/>
                <a:cs typeface="IBM Plex Sans" panose="020B0503050203000203" charset="0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129856" y="4976682"/>
            <a:ext cx="950769" cy="6938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ceHolder 2"/>
          <p:cNvSpPr>
            <a:spLocks noGrp="1"/>
          </p:cNvSpPr>
          <p:nvPr>
            <p:ph idx="10"/>
          </p:nvPr>
        </p:nvSpPr>
        <p:spPr>
          <a:xfrm>
            <a:off x="838200" y="1326599"/>
            <a:ext cx="9047645" cy="36402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>
              <a:spcBef>
                <a:spcPts val="1415"/>
              </a:spcBef>
              <a:buNone/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-41564"/>
            <a:ext cx="610516" cy="57121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7"/>
          <p:cNvSpPr/>
          <p:nvPr userDrawn="1"/>
        </p:nvSpPr>
        <p:spPr>
          <a:xfrm>
            <a:off x="47082" y="5108400"/>
            <a:ext cx="527204" cy="4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BB54315-104C-4893-8F78-12C078FE1DCC}" type="slidenum">
              <a:rPr lang="en-US" sz="1200" b="1" i="1" u="none" strike="noStrike" smtClean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</a:fld>
            <a:r>
              <a:rPr lang="en-US" sz="1200" b="1" i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  <a:t> / 22</a:t>
            </a:r>
            <a:endParaRPr lang="en-US" sz="1200" b="0" u="none" strike="noStrike" dirty="0">
              <a:solidFill>
                <a:schemeClr val="bg1">
                  <a:lumMod val="95000"/>
                </a:schemeClr>
              </a:solidFill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10516" y="-41564"/>
            <a:ext cx="65184" cy="5712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200" y="226080"/>
            <a:ext cx="904764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solidFill>
                  <a:schemeClr val="accent2"/>
                </a:solidFill>
                <a:latin typeface="IBM Plex Sans" panose="020B0503050203000203" charset="0"/>
                <a:cs typeface="IBM Plex Sans" panose="020B0503050203000203" charset="0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129856" y="4966854"/>
            <a:ext cx="950769" cy="6938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0" y="-41564"/>
            <a:ext cx="610516" cy="57121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Holder 2"/>
          <p:cNvSpPr>
            <a:spLocks noGrp="1"/>
          </p:cNvSpPr>
          <p:nvPr>
            <p:ph idx="10"/>
          </p:nvPr>
        </p:nvSpPr>
        <p:spPr>
          <a:xfrm>
            <a:off x="838200" y="1326599"/>
            <a:ext cx="9047645" cy="36402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>
              <a:spcBef>
                <a:spcPts val="1415"/>
              </a:spcBef>
              <a:buNone/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TextBox 7"/>
          <p:cNvSpPr/>
          <p:nvPr userDrawn="1"/>
        </p:nvSpPr>
        <p:spPr>
          <a:xfrm>
            <a:off x="47082" y="5108400"/>
            <a:ext cx="527204" cy="4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BB54315-104C-4893-8F78-12C078FE1DCC}" type="slidenum">
              <a:rPr lang="en-US" sz="1200" b="1" i="1" u="none" strike="noStrike" smtClean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</a:fld>
            <a:r>
              <a:rPr lang="en-US" sz="1200" b="1" i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  <a:t> / 6</a:t>
            </a:r>
            <a:endParaRPr lang="en-US" sz="1200" b="0" u="none" strike="noStrike" dirty="0">
              <a:solidFill>
                <a:schemeClr val="bg1">
                  <a:lumMod val="95000"/>
                </a:schemeClr>
              </a:solidFill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0516" y="-41564"/>
            <a:ext cx="65184" cy="571211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200" y="226080"/>
            <a:ext cx="904764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solidFill>
                  <a:schemeClr val="accent3"/>
                </a:solidFill>
                <a:latin typeface="IBM Plex Sans" panose="020B0503050203000203" charset="0"/>
                <a:cs typeface="IBM Plex Sans" panose="020B0503050203000203" charset="0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129856" y="4966854"/>
            <a:ext cx="950769" cy="6938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Holder 2"/>
          <p:cNvSpPr>
            <a:spLocks noGrp="1"/>
          </p:cNvSpPr>
          <p:nvPr>
            <p:ph idx="10"/>
          </p:nvPr>
        </p:nvSpPr>
        <p:spPr>
          <a:xfrm>
            <a:off x="838200" y="1326599"/>
            <a:ext cx="9047645" cy="36402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>
              <a:spcBef>
                <a:spcPts val="1415"/>
              </a:spcBef>
              <a:buNone/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200" y="226080"/>
            <a:ext cx="904764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solidFill>
                  <a:schemeClr val="accent4"/>
                </a:solidFill>
                <a:latin typeface="IBM Plex Sans" panose="020B0503050203000203" charset="0"/>
                <a:cs typeface="IBM Plex Sans" panose="020B0503050203000203" charset="0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-41564"/>
            <a:ext cx="610516" cy="57121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7"/>
          <p:cNvSpPr/>
          <p:nvPr userDrawn="1"/>
        </p:nvSpPr>
        <p:spPr>
          <a:xfrm>
            <a:off x="47082" y="5108400"/>
            <a:ext cx="527204" cy="4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BB54315-104C-4893-8F78-12C078FE1DCC}" type="slidenum">
              <a:rPr lang="en-US" sz="1200" b="1" i="1" u="none" strike="noStrike" smtClean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</a:fld>
            <a:r>
              <a:rPr lang="en-US" sz="1200" b="1" i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  <a:t> / 6</a:t>
            </a:r>
            <a:endParaRPr lang="en-US" sz="1200" b="0" u="none" strike="noStrike" dirty="0">
              <a:solidFill>
                <a:schemeClr val="bg1">
                  <a:lumMod val="95000"/>
                </a:schemeClr>
              </a:solidFill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0516" y="-41564"/>
            <a:ext cx="65184" cy="57121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129856" y="4966854"/>
            <a:ext cx="950769" cy="6938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Holder 2"/>
          <p:cNvSpPr>
            <a:spLocks noGrp="1"/>
          </p:cNvSpPr>
          <p:nvPr>
            <p:ph idx="10"/>
          </p:nvPr>
        </p:nvSpPr>
        <p:spPr>
          <a:xfrm>
            <a:off x="838200" y="1326599"/>
            <a:ext cx="9047645" cy="36402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>
              <a:spcBef>
                <a:spcPts val="1415"/>
              </a:spcBef>
              <a:buNone/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200" y="226080"/>
            <a:ext cx="904764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solidFill>
                  <a:schemeClr val="accent5"/>
                </a:solidFill>
                <a:latin typeface="IBM Plex Sans" panose="020B0503050203000203" charset="0"/>
                <a:cs typeface="IBM Plex Sans" panose="020B0503050203000203" charset="0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-41564"/>
            <a:ext cx="610516" cy="5712114"/>
          </a:xfrm>
          <a:prstGeom prst="rect">
            <a:avLst/>
          </a:prstGeom>
          <a:solidFill>
            <a:srgbClr val="EE53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7"/>
          <p:cNvSpPr/>
          <p:nvPr userDrawn="1"/>
        </p:nvSpPr>
        <p:spPr>
          <a:xfrm>
            <a:off x="47082" y="5108400"/>
            <a:ext cx="527204" cy="4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BB54315-104C-4893-8F78-12C078FE1DCC}" type="slidenum">
              <a:rPr lang="en-US" sz="1200" b="1" i="1" u="none" strike="noStrike" smtClean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</a:fld>
            <a:r>
              <a:rPr lang="en-US" sz="1200" b="1" i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  <a:t> / 22</a:t>
            </a:r>
            <a:endParaRPr lang="en-US" sz="1200" b="0" u="none" strike="noStrike" dirty="0">
              <a:solidFill>
                <a:schemeClr val="bg1">
                  <a:lumMod val="95000"/>
                </a:schemeClr>
              </a:solidFill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0516" y="-41564"/>
            <a:ext cx="65184" cy="57121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latin typeface="IBM Plex Sans" panose="020B0503050203000203" charset="0"/>
                <a:cs typeface="IBM Plex Sans" panose="020B0503050203000203" charset="0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82880" y="64080"/>
            <a:ext cx="964620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b="1">
                <a:latin typeface="IBM Plex"/>
              </a:defRPr>
            </a:lvl1pPr>
          </a:lstStyle>
          <a:p>
            <a:pPr indent="0" algn="ctr">
              <a:buNone/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2880" y="64080"/>
            <a:ext cx="964620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9129856" y="4976682"/>
            <a:ext cx="950769" cy="6938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82880" y="64080"/>
            <a:ext cx="964620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EE6B56F-143E-4FC9-992D-7D20A208531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/>
        </p:nvSpPr>
        <p:spPr>
          <a:xfrm>
            <a:off x="625" y="0"/>
            <a:ext cx="10080000" cy="56678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 dirty="0">
              <a:solidFill>
                <a:srgbClr val="FFFFFF"/>
              </a:solidFill>
              <a:uFillTx/>
              <a:latin typeface="IBM Plex"/>
              <a:ea typeface="DejaVu Sans" panose="020B0603030804020204"/>
            </a:endParaRPr>
          </a:p>
        </p:txBody>
      </p:sp>
      <p:sp>
        <p:nvSpPr>
          <p:cNvPr id="2" name="TextBox 7"/>
          <p:cNvSpPr/>
          <p:nvPr/>
        </p:nvSpPr>
        <p:spPr>
          <a:xfrm>
            <a:off x="9311498" y="5139694"/>
            <a:ext cx="527204" cy="4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BB54315-104C-4893-8F78-12C078FE1DCC}" type="slidenum">
              <a:rPr lang="en-US" sz="1200" b="1" i="1" u="none" strike="noStrike">
                <a:solidFill>
                  <a:srgbClr val="90A4AE"/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</a:fld>
            <a:r>
              <a:rPr lang="en-US" sz="1200" b="1" i="1" u="none" strike="noStrike" dirty="0">
                <a:solidFill>
                  <a:srgbClr val="90A4AE"/>
                </a:solidFill>
                <a:uFillTx/>
                <a:latin typeface="IBM Plex Sans" panose="020B0503050203000203" charset="0"/>
                <a:ea typeface="DejaVu Sans" panose="020B0603030804020204"/>
                <a:cs typeface="IBM Plex Sans" panose="020B0503050203000203" charset="0"/>
              </a:rPr>
              <a:t> / 22</a:t>
            </a:r>
            <a:endParaRPr lang="en-US" sz="1200" b="0" u="none" strike="noStrike" dirty="0">
              <a:solidFill>
                <a:srgbClr val="000000"/>
              </a:solidFill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52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IBM Plex Sans" panose="020B0503050203000203" charset="0"/>
          <a:ea typeface="+mj-ea"/>
          <a:cs typeface="IBM Plex Sans" panose="020B0503050203000203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4.png"/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hyperlink" Target="https://doi.org/10.1109/IEDM.2017.8268515" TargetMode="External"/><Relationship Id="rId8" Type="http://schemas.openxmlformats.org/officeDocument/2006/relationships/hyperlink" Target="https://doi.org/10.1557/s43579-024-00660-2" TargetMode="External"/><Relationship Id="rId7" Type="http://schemas.openxmlformats.org/officeDocument/2006/relationships/hyperlink" Target="https://www.theclimatepledge.com" TargetMode="External"/><Relationship Id="rId6" Type="http://schemas.openxmlformats.org/officeDocument/2006/relationships/hyperlink" Target="https://doi.org/10.1038/s41928-020-0461-5" TargetMode="External"/><Relationship Id="rId5" Type="http://schemas.openxmlformats.org/officeDocument/2006/relationships/hyperlink" Target="https://doi.org/10.1093/nsr/nwad272" TargetMode="External"/><Relationship Id="rId4" Type="http://schemas.openxmlformats.org/officeDocument/2006/relationships/hyperlink" Target="https://doi.org/10.1109/TMAG.2012.2200469" TargetMode="External"/><Relationship Id="rId3" Type="http://schemas.openxmlformats.org/officeDocument/2006/relationships/hyperlink" Target="https://irds.ieee.org/home/what-is-beyond-cmos" TargetMode="Externa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9.xml"/><Relationship Id="rId25" Type="http://schemas.openxmlformats.org/officeDocument/2006/relationships/hyperlink" Target="https://doi.org/10.1109/ACCESS.2024.3365632" TargetMode="External"/><Relationship Id="rId24" Type="http://schemas.openxmlformats.org/officeDocument/2006/relationships/hyperlink" Target="https://doi.org/10.1038/s41586-022-04768-0" TargetMode="External"/><Relationship Id="rId23" Type="http://schemas.openxmlformats.org/officeDocument/2006/relationships/hyperlink" Target="https://doi.org/10.2172/2417618" TargetMode="External"/><Relationship Id="rId22" Type="http://schemas.openxmlformats.org/officeDocument/2006/relationships/hyperlink" Target="https://www.iea.org/reports/tracking-clean-energy-progress-2023" TargetMode="External"/><Relationship Id="rId21" Type="http://schemas.openxmlformats.org/officeDocument/2006/relationships/hyperlink" Target="https://www.eia.gov/totalenergy/data/monthly/" TargetMode="External"/><Relationship Id="rId20" Type="http://schemas.openxmlformats.org/officeDocument/2006/relationships/hyperlink" Target="https://doi.org/10.1016/j.pmatsci.2017.02.002" TargetMode="External"/><Relationship Id="rId2" Type="http://schemas.openxmlformats.org/officeDocument/2006/relationships/hyperlink" Target="https://sustainability.google/reports/247-carbon-free-energy/" TargetMode="External"/><Relationship Id="rId19" Type="http://schemas.openxmlformats.org/officeDocument/2006/relationships/hyperlink" Target="https://doi.org/10.2172/1372902" TargetMode="External"/><Relationship Id="rId18" Type="http://schemas.openxmlformats.org/officeDocument/2006/relationships/hyperlink" Target="http://www.congress.gov/bill/119th-congress/house-bill/1" TargetMode="External"/><Relationship Id="rId17" Type="http://schemas.openxmlformats.org/officeDocument/2006/relationships/hyperlink" Target="https://virginiamercury.com/2024/12/09/legislative-report-development-of-data-centers-could-triple-energy-demands-if-unconstrained/" TargetMode="External"/><Relationship Id="rId16" Type="http://schemas.openxmlformats.org/officeDocument/2006/relationships/hyperlink" Target="https://doi.org/10.1038/s44306-024-00044-1" TargetMode="External"/><Relationship Id="rId15" Type="http://schemas.openxmlformats.org/officeDocument/2006/relationships/hyperlink" Target="https://doi.org/10.1103/RevModPhys.91.035004" TargetMode="External"/><Relationship Id="rId14" Type="http://schemas.openxmlformats.org/officeDocument/2006/relationships/hyperlink" Target="https://doi.org/10.1109/CODES-ISSS55005.2022.00013" TargetMode="External"/><Relationship Id="rId13" Type="http://schemas.openxmlformats.org/officeDocument/2006/relationships/hyperlink" Target="https://chipsandcheese.com/p/alder-lakes-caching-and-power-efficiency" TargetMode="External"/><Relationship Id="rId12" Type="http://schemas.openxmlformats.org/officeDocument/2006/relationships/hyperlink" Target="https://doi.org/10.1109/INTERMAGShortPapers58606.2023.10228494" TargetMode="External"/><Relationship Id="rId11" Type="http://schemas.openxmlformats.org/officeDocument/2006/relationships/hyperlink" Target="https://doi.org/10.1109/TMAG.2015.2443124" TargetMode="External"/><Relationship Id="rId10" Type="http://schemas.openxmlformats.org/officeDocument/2006/relationships/hyperlink" Target="https://doi.org/10.1109/ACCESS.2020.3033023" TargetMode="Externa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uilding with many windows&#10;&#10;AI-generated content may be incorrect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/>
          <a:stretch>
            <a:fillRect/>
          </a:stretch>
        </p:blipFill>
        <p:spPr>
          <a:xfrm>
            <a:off x="-191135" y="1037923"/>
            <a:ext cx="10285730" cy="46326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191134" y="-91440"/>
            <a:ext cx="10271759" cy="17323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 rot="10800000">
            <a:off x="-191135" y="1640910"/>
            <a:ext cx="10271759" cy="411981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8000">
                <a:schemeClr val="bg1">
                  <a:lumMod val="75000"/>
                  <a:alpha val="0"/>
                </a:schemeClr>
              </a:gs>
              <a:gs pos="100000">
                <a:schemeClr val="dk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2085940"/>
          </a:xfrm>
        </p:spPr>
        <p:txBody>
          <a:bodyPr anchor="t"/>
          <a:lstStyle/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lang="en-US" altLang="en-GB" sz="3200" dirty="0">
                <a:solidFill>
                  <a:schemeClr val="bg1"/>
                </a:solidFill>
              </a:rPr>
              <a:t>Beyond-CMOS Computing Efficiency as Common Ground in Data Center Expansion</a:t>
            </a:r>
            <a:br>
              <a:rPr lang="en-US" altLang="en-GB" dirty="0">
                <a:solidFill>
                  <a:schemeClr val="bg1"/>
                </a:solidFill>
              </a:rPr>
            </a:br>
            <a:br>
              <a:rPr lang="en-US" altLang="en-GB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Grant Saggars @ University of Kansas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grant-saggars@ku.edu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US" altLang="en-GB" sz="2000" dirty="0">
                <a:solidFill>
                  <a:schemeClr val="bg1"/>
                </a:solidFill>
              </a:rPr>
              <a:t>7 October</a:t>
            </a:r>
            <a:r>
              <a:rPr lang="en-GB" sz="2000" dirty="0">
                <a:solidFill>
                  <a:schemeClr val="bg1"/>
                </a:solidFill>
              </a:rPr>
              <a:t>, 2025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s 31"/>
          <p:cNvSpPr/>
          <p:nvPr/>
        </p:nvSpPr>
        <p:spPr>
          <a:xfrm>
            <a:off x="168910" y="570230"/>
            <a:ext cx="435610" cy="4653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8270" y="5273675"/>
            <a:ext cx="6061710" cy="198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700"/>
              <a:t>IEA (2025), Global data centre electricity consumption, by equipment, Base Case, 2020-2030</a:t>
            </a:r>
            <a:endParaRPr lang="en-US" sz="700"/>
          </a:p>
        </p:txBody>
      </p:sp>
      <p:pic>
        <p:nvPicPr>
          <p:cNvPr id="6" name="Picture 5" descr="global-data-centre-electricity-consumption-by-equipment-base-case-2020-20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" y="570230"/>
            <a:ext cx="5600700" cy="4669155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6401435" y="575945"/>
            <a:ext cx="3366135" cy="4647565"/>
            <a:chOff x="8820" y="291"/>
            <a:chExt cx="5742" cy="7925"/>
          </a:xfrm>
        </p:grpSpPr>
        <p:pic>
          <p:nvPicPr>
            <p:cNvPr id="25" name="Picture 24" descr="energy_plot"/>
            <p:cNvPicPr>
              <a:picLocks noChangeAspect="1"/>
            </p:cNvPicPr>
            <p:nvPr/>
          </p:nvPicPr>
          <p:blipFill>
            <a:blip r:embed="rId2"/>
            <a:srcRect t="64143" r="48558" b="5279"/>
            <a:stretch>
              <a:fillRect/>
            </a:stretch>
          </p:blipFill>
          <p:spPr>
            <a:xfrm>
              <a:off x="8820" y="5485"/>
              <a:ext cx="5742" cy="2731"/>
            </a:xfrm>
            <a:prstGeom prst="rect">
              <a:avLst/>
            </a:prstGeom>
          </p:spPr>
        </p:pic>
        <p:sp>
          <p:nvSpPr>
            <p:cNvPr id="26" name="Rectangles 25"/>
            <p:cNvSpPr/>
            <p:nvPr/>
          </p:nvSpPr>
          <p:spPr>
            <a:xfrm>
              <a:off x="9745" y="5094"/>
              <a:ext cx="4766" cy="8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22" name="Picture 21" descr="energy_plot"/>
            <p:cNvPicPr>
              <a:picLocks noChangeAspect="1"/>
            </p:cNvPicPr>
            <p:nvPr/>
          </p:nvPicPr>
          <p:blipFill>
            <a:blip r:embed="rId2"/>
            <a:srcRect r="48558" b="41153"/>
            <a:stretch>
              <a:fillRect/>
            </a:stretch>
          </p:blipFill>
          <p:spPr>
            <a:xfrm>
              <a:off x="8820" y="291"/>
              <a:ext cx="5742" cy="5255"/>
            </a:xfrm>
            <a:prstGeom prst="rect">
              <a:avLst/>
            </a:prstGeom>
          </p:spPr>
        </p:pic>
        <p:sp>
          <p:nvSpPr>
            <p:cNvPr id="27" name="Rectangles 26"/>
            <p:cNvSpPr/>
            <p:nvPr/>
          </p:nvSpPr>
          <p:spPr>
            <a:xfrm>
              <a:off x="9152" y="5322"/>
              <a:ext cx="377" cy="17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29" name="Picture 28" descr="energy_plot"/>
            <p:cNvPicPr>
              <a:picLocks noChangeAspect="1"/>
            </p:cNvPicPr>
            <p:nvPr/>
          </p:nvPicPr>
          <p:blipFill>
            <a:blip r:embed="rId2"/>
            <a:srcRect l="53511" t="72104" r="424" b="17963"/>
            <a:stretch>
              <a:fillRect/>
            </a:stretch>
          </p:blipFill>
          <p:spPr>
            <a:xfrm>
              <a:off x="10524" y="5546"/>
              <a:ext cx="3557" cy="614"/>
            </a:xfrm>
            <a:prstGeom prst="rect">
              <a:avLst/>
            </a:prstGeom>
          </p:spPr>
        </p:pic>
      </p:grpSp>
      <p:sp>
        <p:nvSpPr>
          <p:cNvPr id="30" name="Text Box 29"/>
          <p:cNvSpPr txBox="1"/>
          <p:nvPr/>
        </p:nvSpPr>
        <p:spPr>
          <a:xfrm>
            <a:off x="146050" y="62865"/>
            <a:ext cx="6043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b="1">
                <a:latin typeface="IBM Plex Sans" panose="020B0503050203000203" charset="0"/>
                <a:cs typeface="IBM Plex Sans" panose="020B0503050203000203" charset="0"/>
              </a:rPr>
              <a:t>1) Projected Datacenter Growth</a:t>
            </a:r>
            <a:endParaRPr lang="en-US" sz="2400" b="1"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 rot="16200000">
            <a:off x="164465" y="2552700"/>
            <a:ext cx="625475" cy="3683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p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TWh</a:t>
            </a:r>
            <a:endParaRPr lang="en-US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431280" y="62865"/>
            <a:ext cx="3307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b="1">
                <a:latin typeface="IBM Plex Sans" panose="020B0503050203000203" charset="0"/>
                <a:cs typeface="IBM Plex Sans" panose="020B0503050203000203" charset="0"/>
              </a:rPr>
              <a:t>2) Energy Production</a:t>
            </a:r>
            <a:endParaRPr lang="en-US" sz="2400" b="1"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6431280" y="5273675"/>
            <a:ext cx="3366135" cy="183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sz="600"/>
              <a:t>U.S. Energy Information Administration. (n.d.). Total Energy Monthly Data. Retrieved October 6, 2025</a:t>
            </a:r>
            <a:endParaRPr lang="en-US" sz="600"/>
          </a:p>
        </p:txBody>
      </p:sp>
      <p:pic>
        <p:nvPicPr>
          <p:cNvPr id="35" name="Picture 34" descr="A building with many windows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/>
          <a:stretch>
            <a:fillRect/>
          </a:stretch>
        </p:blipFill>
        <p:spPr>
          <a:xfrm>
            <a:off x="-191135" y="6939613"/>
            <a:ext cx="10285730" cy="4632627"/>
          </a:xfrm>
          <a:prstGeom prst="rect">
            <a:avLst/>
          </a:prstGeom>
        </p:spPr>
      </p:pic>
      <p:sp>
        <p:nvSpPr>
          <p:cNvPr id="36" name="Rectangle 5"/>
          <p:cNvSpPr/>
          <p:nvPr/>
        </p:nvSpPr>
        <p:spPr>
          <a:xfrm>
            <a:off x="-191134" y="-5748020"/>
            <a:ext cx="10271759" cy="17323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Rectangle 4"/>
          <p:cNvSpPr/>
          <p:nvPr/>
        </p:nvSpPr>
        <p:spPr>
          <a:xfrm rot="10800000">
            <a:off x="-191135" y="-4015670"/>
            <a:ext cx="10271759" cy="411981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8000">
                <a:schemeClr val="bg1">
                  <a:lumMod val="75000"/>
                  <a:alpha val="0"/>
                </a:schemeClr>
              </a:gs>
              <a:gs pos="100000">
                <a:schemeClr val="dk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38" name="Title 3"/>
          <p:cNvSpPr>
            <a:spLocks noGrp="1"/>
          </p:cNvSpPr>
          <p:nvPr/>
        </p:nvSpPr>
        <p:spPr>
          <a:xfrm>
            <a:off x="504000" y="-4881860"/>
            <a:ext cx="9071280" cy="20859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IBM Plex Sans" panose="020B0503050203000203" charset="0"/>
                <a:ea typeface="+mj-ea"/>
                <a:cs typeface="IBM Plex Sans" panose="020B0503050203000203" charset="0"/>
              </a:defRPr>
            </a:lvl1pPr>
          </a:lstStyle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lang="en-US" altLang="en-GB" sz="3200" dirty="0">
                <a:solidFill>
                  <a:schemeClr val="bg1"/>
                </a:solidFill>
              </a:rPr>
              <a:t>Beyond-CMOS Computing Efficiency as Common Ground in Data Center Expansion</a:t>
            </a:r>
            <a:br>
              <a:rPr lang="en-US" altLang="en-GB" dirty="0">
                <a:solidFill>
                  <a:schemeClr val="bg1"/>
                </a:solidFill>
              </a:rPr>
            </a:br>
            <a:br>
              <a:rPr lang="en-US" altLang="en-GB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Grant Saggars @ University of Kansas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grant-saggars@ku.edu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US" altLang="en-GB" sz="2000" dirty="0">
                <a:solidFill>
                  <a:schemeClr val="bg1"/>
                </a:solidFill>
              </a:rPr>
              <a:t>25 July</a:t>
            </a:r>
            <a:r>
              <a:rPr lang="en-GB" sz="2000" dirty="0">
                <a:solidFill>
                  <a:schemeClr val="bg1"/>
                </a:solidFill>
              </a:rPr>
              <a:t>, 2025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3054985" y="718185"/>
            <a:ext cx="236220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5" y="831850"/>
            <a:ext cx="3151505" cy="431800"/>
          </a:xfrm>
          <a:prstGeom prst="rect">
            <a:avLst/>
          </a:prstGeom>
        </p:spPr>
      </p:pic>
      <p:sp>
        <p:nvSpPr>
          <p:cNvPr id="42" name="Text Box 41"/>
          <p:cNvSpPr txBox="1"/>
          <p:nvPr/>
        </p:nvSpPr>
        <p:spPr>
          <a:xfrm rot="16200000">
            <a:off x="2635885" y="1780540"/>
            <a:ext cx="8674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/>
              <a:t>(projected)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0" grpId="0"/>
      <p:bldP spid="31" grpId="0" bldLvl="0" animBg="1"/>
      <p:bldP spid="32" grpId="0" bldLvl="0" animBg="1"/>
      <p:bldP spid="5" grpId="1"/>
      <p:bldP spid="30" grpId="1"/>
      <p:bldP spid="31" grpId="1" animBg="1"/>
      <p:bldP spid="32" grpId="1" animBg="1"/>
      <p:bldP spid="33" grpId="0"/>
      <p:bldP spid="34" grpId="0"/>
      <p:bldP spid="33" grpId="1"/>
      <p:bldP spid="34" grpId="1"/>
      <p:bldP spid="41" grpId="0" animBg="1"/>
      <p:bldP spid="42" grpId="0"/>
      <p:bldP spid="41" grpId="1" animBg="1"/>
      <p:bldP spid="4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Application and Operation of Magnetoresistive RAM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0"/>
          </p:nvPr>
        </p:nvPicPr>
        <p:blipFill>
          <a:blip r:embed="rId1"/>
          <a:srcRect r="565"/>
          <a:stretch>
            <a:fillRect/>
          </a:stretch>
        </p:blipFill>
        <p:spPr>
          <a:xfrm>
            <a:off x="5996940" y="1426845"/>
            <a:ext cx="2903220" cy="22980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868670" y="3874135"/>
            <a:ext cx="3397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00"/>
              <a:t>Dieny, B., Prejbeanu, I.L., Garello, K. et al. Nat Electron 3, 446–459 (2020). </a:t>
            </a:r>
            <a:endParaRPr lang="en-US" sz="12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t="16026" r="7786"/>
          <a:stretch>
            <a:fillRect/>
          </a:stretch>
        </p:blipFill>
        <p:spPr>
          <a:xfrm>
            <a:off x="1276985" y="1381760"/>
            <a:ext cx="4046220" cy="23882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805940" y="3874135"/>
            <a:ext cx="32181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/>
              <a:t>D. Apalkov et al., Proc. of IEEE </a:t>
            </a:r>
            <a:r>
              <a:rPr lang="en-US" sz="1200" b="1"/>
              <a:t>104</a:t>
            </a:r>
            <a:r>
              <a:rPr lang="en-US" sz="1200"/>
              <a:t>, 1796 (2016)</a:t>
            </a:r>
            <a:endParaRPr lang="en-US" sz="1200"/>
          </a:p>
        </p:txBody>
      </p:sp>
      <p:sp>
        <p:nvSpPr>
          <p:cNvPr id="9" name="Text Box 8"/>
          <p:cNvSpPr txBox="1"/>
          <p:nvPr/>
        </p:nvSpPr>
        <p:spPr>
          <a:xfrm>
            <a:off x="1537970" y="4394200"/>
            <a:ext cx="37541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Current directly switches magnetization of free layer M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High efficiency, low heat production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689604" y="4394324"/>
            <a:ext cx="375434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STT-MRAM most mature; SOT and VCMA-MRAM emerging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Directly integrable using CMOS-fabrication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MRAM Specifications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856605" y="4203065"/>
            <a:ext cx="3973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Leakage: no capacitors like DRAM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Nonvolatility gives huge energetics advantage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Minimal heating losses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72885" y="349313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00"/>
              <a:t>Yaogeng Liu et al 2025 Semicond. Sci. Technol. 40 035019</a:t>
            </a:r>
            <a:endParaRPr lang="en-US" sz="12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b="58041"/>
          <a:stretch>
            <a:fillRect/>
          </a:stretch>
        </p:blipFill>
        <p:spPr>
          <a:xfrm>
            <a:off x="5800090" y="1301115"/>
            <a:ext cx="4085590" cy="20624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38200" y="1301115"/>
            <a:ext cx="4347210" cy="39693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1"/>
              <a:t>Embedded Flash</a:t>
            </a:r>
            <a:endParaRPr lang="en-US" i="1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/>
              <a:t>MTJ size 40-100 nm</a:t>
            </a:r>
            <a:endParaRPr lang="en-US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/>
              <a:t>Retention: 10 yrs @ 85</a:t>
            </a:r>
            <a:r>
              <a:rPr lang="en-US">
                <a:latin typeface="ABeeZee" charset="0"/>
              </a:rPr>
              <a:t>°C</a:t>
            </a:r>
            <a:endParaRPr lang="en-US">
              <a:latin typeface="ABeeZee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ABeeZee" charset="0"/>
              </a:rPr>
              <a:t>Write current &gt; 100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μA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TMR &gt; 100%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Endurance 10⁶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Standalone DRAM replacement (GB chips)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MTJ size &lt;20 nm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Retention: hours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Write current &lt; 20</a:t>
            </a:r>
            <a:r>
              <a:rPr lang="en-US">
                <a:latin typeface="ABeeZee" charset="0"/>
                <a:sym typeface="+mn-ea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μA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TMR ~300%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Endurance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10¹⁷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lvl="1" indent="0" algn="l">
              <a:buFont typeface="Arial" panose="020B0604020202020204" pitchFamily="34" charset="0"/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Outlook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820035" y="2327275"/>
            <a:ext cx="59537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/>
              <a:t>Increase PMA for thermal stability as volume decreases</a:t>
            </a:r>
            <a:endParaRPr lang="en-US" sz="24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/>
              <a:t>Further reduce switching current</a:t>
            </a:r>
            <a:endParaRPr lang="en-US" sz="24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/>
              <a:t>Etching pitch (higher density)</a:t>
            </a:r>
            <a:endParaRPr lang="en-US" sz="24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/>
              <a:t>Increase of TMR to 300% (density, read stability)</a:t>
            </a:r>
            <a:endParaRPr lang="en-US" sz="2400"/>
          </a:p>
        </p:txBody>
      </p:sp>
      <p:sp>
        <p:nvSpPr>
          <p:cNvPr id="13" name="Text Box 12"/>
          <p:cNvSpPr txBox="1"/>
          <p:nvPr/>
        </p:nvSpPr>
        <p:spPr>
          <a:xfrm>
            <a:off x="838200" y="1062355"/>
            <a:ext cx="5954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i="1">
                <a:solidFill>
                  <a:schemeClr val="accent4">
                    <a:lumMod val="60000"/>
                    <a:lumOff val="40000"/>
                  </a:schemeClr>
                </a:solidFill>
              </a:rPr>
              <a:t>STT-MRAM is already entering commerical viability, what are the remaining barriers for industry adoption?</a:t>
            </a:r>
            <a:endParaRPr lang="en-US" i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838200" y="5365115"/>
            <a:ext cx="35534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Tiffany Santos, 2022, Western Digital, IEEE Distinguished Lecturer</a:t>
            </a:r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 idx="4294967295"/>
          </p:nvPr>
        </p:nvSpPr>
        <p:spPr>
          <a:xfrm>
            <a:off x="0" y="149225"/>
            <a:ext cx="5448935" cy="6578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161616"/>
                </a:solidFill>
                <a:uFillTx/>
                <a:latin typeface="IBM Plex Sans" panose="020B0503050203000203"/>
              </a:rPr>
              <a:t>Acknowledgements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7" name="Picture 6" descr="Blue KU logotype"/>
          <p:cNvPicPr/>
          <p:nvPr/>
        </p:nvPicPr>
        <p:blipFill>
          <a:blip r:embed="rId1"/>
          <a:stretch>
            <a:fillRect/>
          </a:stretch>
        </p:blipFill>
        <p:spPr>
          <a:xfrm>
            <a:off x="9204325" y="149225"/>
            <a:ext cx="876300" cy="492760"/>
          </a:xfrm>
          <a:prstGeom prst="rect">
            <a:avLst/>
          </a:prstGeom>
          <a:ln w="0">
            <a:noFill/>
          </a:ln>
        </p:spPr>
      </p:pic>
      <p:sp>
        <p:nvSpPr>
          <p:cNvPr id="15" name="Text Box 14"/>
          <p:cNvSpPr txBox="1"/>
          <p:nvPr/>
        </p:nvSpPr>
        <p:spPr>
          <a:xfrm>
            <a:off x="6115050" y="870585"/>
            <a:ext cx="30892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Additional Acknowledgements</a:t>
            </a:r>
            <a:endParaRPr lang="en-US" b="1"/>
          </a:p>
        </p:txBody>
      </p:sp>
      <p:sp>
        <p:nvSpPr>
          <p:cNvPr id="22" name="Text Box 21"/>
          <p:cNvSpPr txBox="1"/>
          <p:nvPr/>
        </p:nvSpPr>
        <p:spPr>
          <a:xfrm>
            <a:off x="120333" y="870268"/>
            <a:ext cx="5080000" cy="4615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66700" indent="-266700"/>
            <a:r>
              <a:rPr lang="en-US" sz="600" b="0">
                <a:latin typeface="Times New Roman" panose="02020603050405020304" charset="0"/>
                <a:cs typeface="SimSun" charset="0"/>
              </a:rPr>
              <a:t>	“24/7 by 2030: Realizing a Carbon-Free Future”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Google Sustainability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"/>
              </a:rPr>
              <a:t>https://sustainability.google/reports/247-carbon-free-energy/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Accessed 3 Oct. 2025.“Beyond CMOS: The Future of Semiconductors”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 IEEE IRDS</a:t>
            </a:r>
            <a:r>
              <a:rPr lang="en-US" sz="600" b="0" i="1" baseline="30000">
                <a:latin typeface="Times New Roman" panose="02020603050405020304" charset="0"/>
                <a:cs typeface="SimSun" charset="0"/>
              </a:rPr>
              <a:t>TM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3"/>
              </a:rPr>
              <a:t>https://irds.ieee.org/home/what-is-beyond-cmos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Accessed 7 Sep. 2025.Bi, Xiuyuan, et al. “STT-RAM Cell Design Considering CMOS and MTJ Temperature Dependence.”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Transactions on Magnetics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48, no. 11, Nov. 2012, pp. 3821–24.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4"/>
              </a:rPr>
              <a:t>https://doi.org/10.1109/TMAG.2012.2200469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Cai, Kaiming, et al. “Spin-Based Magnetic Random-Access Memory for High-Performance Computing.”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National Science Review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11, no. 3, Oct. 2023, p. nwad272.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PubMed Central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5"/>
              </a:rPr>
              <a:t>https://doi.org/10.1093/nsr/nwad272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Dieny, B., et al. “Opportunities and Challenges for Spintronics in the Microelectronics Industry.”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Nature Electronics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3, no. 8, Aug. 2020, pp. 446–59.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www.nature.com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6"/>
              </a:rPr>
              <a:t>https://doi.org/10.1038/s41928-020-0461-5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Global Optimism and Amazon. “The Climate Pledge.”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The Climate Pledge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7"/>
              </a:rPr>
              <a:t>https://www.theclimatepledge.com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Accessed 3 Oct. 2025.Hellenbrand, Markus, et al. “Progress of Emerging Non-Volatile Memory Technologies in Industry.”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MRS Communications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14, no. 6, Dec. 2024, pp. 1099–112.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Springer Link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8"/>
              </a:rPr>
              <a:t>https://doi.org/10.1557/s43579-024-00660-2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Hu, G., et al. “Key Parameters Affecting STT-MRAM Switching Efficiency and Improved Device Performance of 400°C-Compatible p-MTJs.”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2017 IEEE International Electron Devices Meeting (IEDM)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2017, p. 38.3.1-38.3.4.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9"/>
              </a:rPr>
              <a:t>https://doi.org/10.1109/IEDM.2017.8268515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Joshi, Vinod Kumar, et al. “From MTJ Device to Hybrid CMOS/MTJ Circuits: A Review.”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Access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8, 2020, pp. 194105–46.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0"/>
              </a:rPr>
              <a:t>https://doi.org/10.1109/ACCESS.2020.3033023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Khalili Amiri, Pedram, et al. “Electric-Field-Controlled Magnetoelectric RAM: Progress, Challenges, and Scaling.”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Transactions on Magnetics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51, no. 11, Nov. 2015, pp. 1–7.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1"/>
              </a:rPr>
              <a:t>https://doi.org/10.1109/TMAG.2015.2443124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Kim, Woojin, et al. “VCMA-MTJ: Towards Ghz Operation Low Power MRAM.”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2023 IEEE International Magnetic Conference - Short Papers (INTERMAG Short Papers)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2023, pp. 1–2.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2"/>
              </a:rPr>
              <a:t>https://doi.org/10.1109/INTERMAGShortPapers58606.2023.10228494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Lam, Chester.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Alder Lake’s Caching and Power Efficiency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24 Aug. 2025,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3"/>
              </a:rPr>
              <a:t>https://chipsandcheese.com/p/alder-lakes-caching-and-power-efficiency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Li, Yueting, et al. “Work-in-Progress: Toward Energy-Efficient Near STT-MRAM Processing Architecture for Neural Networks.”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2022 International Conference on Hardware/Software Codesign and System Synthesis (CODES+ISSS)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2022, pp. 13–14.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4"/>
              </a:rPr>
              <a:t>https://doi.org/10.1109/CODES-ISSS55005.2022.00013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Manchon, A., et al. “Current-Induced Spin-Orbit Torques in Ferromagnetic and Antiferromagnetic Systems.”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Reviews of Modern Physics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91, no. 3, Sep. 2019, p. 035004.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DOI.org (Crossref)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5"/>
              </a:rPr>
              <a:t>https://doi.org/10.1103/RevModPhys.91.035004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United States, Energy Information Administration.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Monthly Energy Review. Aug. 2025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www.eia.gov/totalenergy/data/monthly/pdf/mer.pdf. Accessed 3 Oct. 2025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.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International Energy Agency. "Emission Reductions."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Multiple Benefits of Energy Efficiency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IEA, 2019, iea.blob.core.windows.net/assets/7d547730-44ff-404b-af52-0812a340aee5/MultipleBenefitsofEnergyEfficiency-EmissionReductions.pdf. Accessed 3 Oct. 2025.Nguyen, V. D., et al. “Recent Progress in Spin-Orbit Torque Magnetic Random-Access Memory.”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Npj Spintronics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2, no. 1, Oct. 2024, p. 48.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www.nature.com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6"/>
              </a:rPr>
              <a:t>https://doi.org/10.1038/s44306-024-00044-1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Paullin, Charlie. “Legislative Report: Development of Data Centers Could Triple Energy Demands If Unconstrained • Virginia Mercury.”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Virginia Mercury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9 Dec. 2024,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7"/>
              </a:rPr>
              <a:t>https://virginiamercury.com/2024/12/09/legislative-report-development-of-data-centers-could-triple-energy-demands-if-unconstrained/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United States, Congress, House.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One Big Beautiful Bill Act.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 Congress.gov, </a:t>
            </a:r>
            <a:r>
              <a:rPr lang="en-US" sz="600" b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8"/>
              </a:rPr>
              <a:t>www.congress.gov/bill/119th-congress/house-bill/1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119th Congress, H.R. 1, enacted 4 July 2025.Shehabi, Arman, et al.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United States Data Center Energy Usage Report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LBNL--1005775, 1372902, 1 Jun. 2016, p. LBNL--1005775, 1372902.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DOI.org (Crossref)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19"/>
              </a:rPr>
              <a:t>https://doi.org/10.2172/1372902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Song, Cheng, et al. “Recent Progress in Voltage Control of Magnetism: Materials, Mechanisms, and Performance.”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Progress in Materials Science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87, Jun. 2017, pp. 33–82.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ScienceDirect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0"/>
              </a:rPr>
              <a:t>https://doi.org/10.1016/j.pmatsci.2017.02.002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Total Energy Monthly Data - U.S. Energy Information Administration (EIA)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1"/>
              </a:rPr>
              <a:t>https://www.eia.gov/totalenergy/data/monthly/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Accessed 9 Sep. 2025.“Tracking Clean Energy Progress 2023 – Analysis.”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IEA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12 Jul. 2023,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2"/>
              </a:rPr>
              <a:t>https://www.iea.org/reports/tracking-clean-energy-progress-2023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Van Geet, Otto, and David Sickinger.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Best Practices Guide for Energy-Efficient Data Center Design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 NREL/TP--5R00-89843, DOE/GO--102024-6283, 2417618, 25 Jul. 2024, p. NREL/TP--5R00-89843, DOE/GO--102024-6283, 2417618.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DOI.org (Crossref)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3"/>
              </a:rPr>
              <a:t>https://doi.org/10.2172/2417618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Yang, Hyunsoo, et al. “Two-Dimensional Materials Prospects for Non-Volatile Spintronic Memories.”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Nature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606, no. 7915, Jun. 2022, pp. 663–73.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www.nature.com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4"/>
              </a:rPr>
              <a:t>https://doi.org/10.1038/s41586-022-04768-0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Yusuf, Alaba, et al. “Domain-Specific STT-MRAM-Based In-Memory Computing: A Survey.”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Access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vol. 12, 2024, pp. 28036–56. </a:t>
            </a:r>
            <a:r>
              <a:rPr lang="en-US" sz="600" b="0" i="1">
                <a:latin typeface="Times New Roman" panose="02020603050405020304" charset="0"/>
                <a:cs typeface="SimSun" charset="0"/>
              </a:rPr>
              <a:t>IEEE Xplore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, </a:t>
            </a:r>
            <a:r>
              <a:rPr lang="en-US" sz="600" b="0" u="sng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SimSun" charset="0"/>
                <a:hlinkClick r:id="rId25"/>
              </a:rPr>
              <a:t>https://doi.org/10.1109/ACCESS.2024.3365632</a:t>
            </a:r>
            <a:r>
              <a:rPr lang="en-US" sz="600" b="0">
                <a:latin typeface="Times New Roman" panose="02020603050405020304" charset="0"/>
                <a:cs typeface="SimSun" charset="0"/>
              </a:rPr>
              <a:t>.</a:t>
            </a:r>
            <a:endParaRPr lang="en-US" sz="600" b="0">
              <a:latin typeface="Times New Roman" panose="02020603050405020304" charset="0"/>
              <a:cs typeface="SimSun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5547360" y="1397635"/>
            <a:ext cx="422402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IEA (2025), Global data centre electricity 	consumption, by equipment, Base 	Case, 2020-2030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U.S. Energy Information Administration. 	(n.d.). Total Energy Monthly Data. 	Retrieved October 6, 2025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Dieny, B., Prejbeanu, I.L., Garello, K. et al. Nat Electron 3, 446–459 (2020). 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	D. Apalkov et al., Proc. of IEEE 	104, 1796 (2016)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Yaogeng Liu et al 2025 Semicond. Sci. 	Technol. 40 035019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Tiffany Santos, 2022, Western Digital, 	IEEE Distinguished Lecturer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umbered">
  <a:themeElements>
    <a:clrScheme name="Custom 1">
      <a:dk1>
        <a:srgbClr val="161616"/>
      </a:dk1>
      <a:lt1>
        <a:srgbClr val="FFFFFF"/>
      </a:lt1>
      <a:dk2>
        <a:srgbClr val="0E2841"/>
      </a:dk2>
      <a:lt2>
        <a:srgbClr val="D0D0D0"/>
      </a:lt2>
      <a:accent1>
        <a:srgbClr val="FF6F00"/>
      </a:accent1>
      <a:accent2>
        <a:srgbClr val="0F62FE"/>
      </a:accent2>
      <a:accent3>
        <a:srgbClr val="42BE65"/>
      </a:accent3>
      <a:accent4>
        <a:srgbClr val="673AB7"/>
      </a:accent4>
      <a:accent5>
        <a:srgbClr val="EE5396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IBM Plex Sans"/>
        <a:ea typeface="DejaVu Sans"/>
        <a:cs typeface="DejaVu Sans"/>
      </a:majorFont>
      <a:minorFont>
        <a:latin typeface="Calibri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7444</Words>
  <Application>WPS Presentation</Application>
  <PresentationFormat>Custom</PresentationFormat>
  <Paragraphs>102</Paragraphs>
  <Slides>6</Slides>
  <Notes>13</Notes>
  <HiddenSlides>0</HiddenSlides>
  <MMClips>2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SimSun</vt:lpstr>
      <vt:lpstr>Wingdings</vt:lpstr>
      <vt:lpstr>IBM Plex</vt:lpstr>
      <vt:lpstr>DejaVu Sans</vt:lpstr>
      <vt:lpstr>IBM Plex Sans</vt:lpstr>
      <vt:lpstr>Arial</vt:lpstr>
      <vt:lpstr>Noto Emoji</vt:lpstr>
      <vt:lpstr>Symbol</vt:lpstr>
      <vt:lpstr>Calibri</vt:lpstr>
      <vt:lpstr>K2D Thin</vt:lpstr>
      <vt:lpstr>Times New Roman</vt:lpstr>
      <vt:lpstr>IBM Plex Sans</vt:lpstr>
      <vt:lpstr>Aptos</vt:lpstr>
      <vt:lpstr>Calibri</vt:lpstr>
      <vt:lpstr>Microsoft YaHei</vt:lpstr>
      <vt:lpstr>Noto Sans CJK SC</vt:lpstr>
      <vt:lpstr>Arial Unicode MS</vt:lpstr>
      <vt:lpstr>ABeeZee</vt:lpstr>
      <vt:lpstr>0xProto Nerd Font</vt:lpstr>
      <vt:lpstr>Cambria Math</vt:lpstr>
      <vt:lpstr>Times New Roman</vt:lpstr>
      <vt:lpstr>SimSun</vt:lpstr>
      <vt:lpstr>Numbered</vt:lpstr>
      <vt:lpstr>Detecting Nanoscale Magnetism in 2D Systems  Grant Saggars @ University of Kansas grant-saggars@ku.edu 25 July, 2025</vt:lpstr>
      <vt:lpstr>Beyond-CMOS Computing Efficiency as Common Ground in Data Center Expansion  Grant Saggars @ University of Kansas grant-saggars@ku.edu 25 July, 2025</vt:lpstr>
      <vt:lpstr>PowerPoint 演示文稿</vt:lpstr>
      <vt:lpstr>PowerPoint 演示文稿</vt:lpstr>
      <vt:lpstr>PowerPoint 演示文稿</vt:lpstr>
      <vt:lpstr>Acknowledgements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Stacking the Future: van der Waals Nanoscale Devices</dc:title>
  <dc:creator>Mathai, Abishai Kunjumon</dc:creator>
  <cp:lastModifiedBy>mamba</cp:lastModifiedBy>
  <cp:revision>2785</cp:revision>
  <dcterms:created xsi:type="dcterms:W3CDTF">2025-10-07T16:12:12Z</dcterms:created>
  <dcterms:modified xsi:type="dcterms:W3CDTF">2025-10-07T16:12:12Z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Custom</vt:lpwstr>
  </property>
  <property fmtid="{D5CDD505-2E9C-101B-9397-08002B2CF9AE}" pid="4" name="Slides">
    <vt:i4>23</vt:i4>
  </property>
  <property fmtid="{D5CDD505-2E9C-101B-9397-08002B2CF9AE}" pid="5" name="ICV">
    <vt:lpwstr/>
  </property>
  <property fmtid="{D5CDD505-2E9C-101B-9397-08002B2CF9AE}" pid="6" name="KSOProductBuildVer">
    <vt:lpwstr>1033-11.1.0.11723</vt:lpwstr>
  </property>
</Properties>
</file>