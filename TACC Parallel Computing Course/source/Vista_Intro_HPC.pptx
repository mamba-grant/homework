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8"/>
  </p:notesMasterIdLst>
  <p:sldIdLst>
    <p:sldId id="257" r:id="rId2"/>
    <p:sldId id="314" r:id="rId3"/>
    <p:sldId id="294" r:id="rId4"/>
    <p:sldId id="296" r:id="rId5"/>
    <p:sldId id="312" r:id="rId6"/>
    <p:sldId id="327" r:id="rId7"/>
    <p:sldId id="328" r:id="rId8"/>
    <p:sldId id="329" r:id="rId9"/>
    <p:sldId id="330" r:id="rId10"/>
    <p:sldId id="331" r:id="rId11"/>
    <p:sldId id="313" r:id="rId12"/>
    <p:sldId id="315" r:id="rId13"/>
    <p:sldId id="316" r:id="rId14"/>
    <p:sldId id="317" r:id="rId15"/>
    <p:sldId id="321" r:id="rId16"/>
    <p:sldId id="322" r:id="rId17"/>
    <p:sldId id="323" r:id="rId18"/>
    <p:sldId id="308" r:id="rId19"/>
    <p:sldId id="324" r:id="rId20"/>
    <p:sldId id="332" r:id="rId21"/>
    <p:sldId id="311" r:id="rId22"/>
    <p:sldId id="336" r:id="rId23"/>
    <p:sldId id="333" r:id="rId24"/>
    <p:sldId id="334" r:id="rId25"/>
    <p:sldId id="335" r:id="rId26"/>
    <p:sldId id="32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4684"/>
  </p:normalViewPr>
  <p:slideViewPr>
    <p:cSldViewPr snapToGrid="0" snapToObjects="1">
      <p:cViewPr varScale="1">
        <p:scale>
          <a:sx n="128" d="100"/>
          <a:sy n="128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4E20F-631B-A348-87A8-6E466EF476E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76A99-8962-6643-9F68-EAE5FD4D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6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165AF-33E9-E845-9319-47A69DFD8C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2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C0C2-6CEE-B07E-A7E9-5869FB18A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9D88E-158A-4A0D-1563-D2660BBE5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48219-0DB2-2425-6187-265EFA49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1D90B-96E6-D640-BD94-AAB25263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E3107-C99E-7727-FE1B-0E4200A0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3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BFF6-5C2A-5109-0C27-FB060BFB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C80B2-5BE6-04DB-A42E-FAC1E3209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89F91-2D94-2D40-D0B5-41754B39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FDDB0-5750-49FC-8B5B-6B31FC5B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57607-8A74-E6C5-FA33-1AED5F3F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8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B1C5-B15B-25BF-5E67-5E38B08E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799E6-C6E7-255B-B09E-C43469ABF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49B33-4D38-34CD-6D08-A1EAC438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40B3-379F-37D6-AD3D-D41D9FFE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0A823-19BA-1F4F-FF9D-AB017CC1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8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19F4-27B8-CC6D-FB93-7169B732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F072-E670-DFC7-DA47-64ABA1FD9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4895E-E548-1BA4-DC32-5B92DBAA9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BB868-A39A-EA7F-9925-C72D708A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9F128-60BF-01AF-B577-35F9E9CB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E16DD-00B9-714E-08CA-3F16472C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2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8A71-C829-467D-2B25-4A4CF868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AFE43-B23D-9B84-9B15-706965400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9A66B-DE48-1542-C954-1A37B2AF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BD2CA-597A-5985-15F4-1796E9482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2E861-0480-AE2A-606C-EFD4BFA34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ADD8F-EA8F-2E75-F066-0A4DD94F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3179B-064E-3816-7526-3027B436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66A84-DE73-948F-F479-1BDA9C31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8BC7-B6CE-71E9-98C3-DCE67916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CC6F9-4E7B-FD80-1CEA-BCA15C88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5260C-0990-171F-3DB4-DA97E110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A31A2-2963-1F79-141F-3E88B24F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4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8C433B-1452-8D79-23D1-EF07CD7C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BDBFE-EA18-8152-26D6-C930AAF5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AA0D6-49C4-6388-96FF-661A1216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4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EBB9-6270-E978-88BE-B9A2980B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79B1-75B5-39AD-63CA-9FDACBD5B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32664-5324-15F5-E2F5-CC86EF87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C316E-8AF7-F3CA-F544-684572F0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2E93E-95E0-7409-38A0-F77667C7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04237-6BAE-8355-32A4-1AECBD15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C2A4-AD18-D9E3-980B-5B5C9A499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035B8-BA3C-B06A-447A-FD026B844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DDE5-72D8-B1C6-5D0B-36A360B51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AD6DC-049B-6A8A-2028-1AB817AC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211B3-7459-055A-1B74-9DF02152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E3579-DC9F-9C2D-5F42-81C86484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9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A349-BD29-88AA-6437-528EC20D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62CDB-93BE-FEEC-56AA-D35447E55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5C3C-049F-F1F1-303A-995862B9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7E577-33D5-1814-707F-759D52AE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26C6-0549-EF6B-1B7F-4CE9D5BC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26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45FE1-C924-FC8A-2BD7-791C7C875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FE577-A43C-DA01-BD2B-64803ABF6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37BEB-CFEF-5B1C-E275-22C55138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006F-96AE-0392-7D94-2338603C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02CC9-65E8-EF7C-9C45-0B954223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1" y="1857375"/>
            <a:ext cx="10325098" cy="21574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4289522"/>
            <a:ext cx="5114924" cy="158264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18172" y="6356350"/>
            <a:ext cx="783772" cy="365125"/>
          </a:xfrm>
        </p:spPr>
        <p:txBody>
          <a:bodyPr/>
          <a:lstStyle/>
          <a:p>
            <a:r>
              <a:rPr lang="en-US"/>
              <a:t>6/7/18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70028" y="6356350"/>
            <a:ext cx="783771" cy="365125"/>
          </a:xfrm>
        </p:spPr>
        <p:txBody>
          <a:bodyPr/>
          <a:lstStyle/>
          <a:p>
            <a:fld id="{2024AA8B-F1EC-D547-99EC-1807C0CD66C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962774" y="4246658"/>
            <a:ext cx="1453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cap="all" dirty="0">
                <a:latin typeface="Helvetica Neue Condensed Bold"/>
              </a:rPr>
              <a:t>Presented</a:t>
            </a:r>
            <a:r>
              <a:rPr lang="en-US" sz="1600" cap="all" baseline="0" dirty="0">
                <a:latin typeface="Helvetica Neue Condensed Bold"/>
              </a:rPr>
              <a:t> by:</a:t>
            </a:r>
            <a:endParaRPr lang="en-US" sz="1600" cap="all" dirty="0">
              <a:latin typeface="Helvetica Neue Condensed Bold"/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672263" y="4289522"/>
            <a:ext cx="0" cy="1582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2774" y="4585212"/>
            <a:ext cx="4391025" cy="12869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868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BC430C-2769-49E9-54A7-7060D3C5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5EEF1-59B2-74D2-F347-F1DED42D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73766-C8C4-2552-E648-A4F765467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D93C1-3AF1-594C-82BC-B8D4151562B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4200-35B8-C018-9F83-B0C44B623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B1BC-A3A7-0D46-5CF6-7D53D82EC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D4C5D-8203-304B-810B-E5D93F41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4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acc.utexas.edu/portal/logi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cc.utexas.edu/hpc/frontera/#scratchpolic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cc.utexas.edu/hpc/frontera/#transferring-rsync" TargetMode="External"/><Relationship Id="rId2" Type="http://schemas.openxmlformats.org/officeDocument/2006/relationships/hyperlink" Target="https://docs.tacc.utexas.edu/hpc/frontera/#transferring-sc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cc.utexas.edu/tutorials/sharingprojectfile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cc.utexas.edu/hpc/frontera/#table7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cc.utexas.edu/tutorials/TAP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cc.utexas.edu/hpc/frontera/#files-striping" TargetMode="External"/><Relationship Id="rId2" Type="http://schemas.openxmlformats.org/officeDocument/2006/relationships/hyperlink" Target="https://docs.tacc.utexas.edu/tutorials/managingio/#bestpractices-tm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cc.utexas.edu/software/cdtools/" TargetMode="External"/><Relationship Id="rId2" Type="http://schemas.openxmlformats.org/officeDocument/2006/relationships/hyperlink" Target="https://docs.tacc.utexas.edu/software/remora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tacc.utexas.edu/tutorials/managingio/#python" TargetMode="External"/><Relationship Id="rId4" Type="http://schemas.openxmlformats.org/officeDocument/2006/relationships/hyperlink" Target="https://docs.tacc.utexas.edu/tutorials/managingio/#ooop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Vista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Interacting with High Performance Computing Systems at TACC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18171" y="6356350"/>
            <a:ext cx="1060659" cy="365125"/>
          </a:xfrm>
        </p:spPr>
        <p:txBody>
          <a:bodyPr/>
          <a:lstStyle/>
          <a:p>
            <a:r>
              <a:rPr lang="en-US" dirty="0"/>
              <a:t>Jan 25,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4AA8B-F1EC-D547-99EC-1807C0CD66CE}" type="slidenum">
              <a:rPr lang="en-US" smtClean="0"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962774" y="4717947"/>
            <a:ext cx="4391025" cy="1286951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Jack Gaither, Engineering Scientist Associate </a:t>
            </a:r>
          </a:p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Texas Advanced Computing Center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BACB8-B1FC-E545-B86E-8F19C97725D2}"/>
              </a:ext>
            </a:extLst>
          </p:cNvPr>
          <p:cNvSpPr txBox="1"/>
          <p:nvPr/>
        </p:nvSpPr>
        <p:spPr>
          <a:xfrm>
            <a:off x="7477432" y="442451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040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FF5CEB-540C-DC37-B4BD-3E083E04888D}"/>
              </a:ext>
            </a:extLst>
          </p:cNvPr>
          <p:cNvSpPr txBox="1"/>
          <p:nvPr/>
        </p:nvSpPr>
        <p:spPr>
          <a:xfrm>
            <a:off x="11228832" y="2487168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7F2C2-B4E0-A18E-6C08-6CAAD6FD9D6E}"/>
              </a:ext>
            </a:extLst>
          </p:cNvPr>
          <p:cNvSpPr txBox="1"/>
          <p:nvPr/>
        </p:nvSpPr>
        <p:spPr>
          <a:xfrm>
            <a:off x="4264687" y="257429"/>
            <a:ext cx="1143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docs.tacc.utexas.edu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/vista/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A31489-688C-C0F8-0203-1D57553E8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6761"/>
            <a:ext cx="7772400" cy="560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5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E6AF9-78EA-0F48-AF05-3649AF5F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Logging In: What do I need?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F1E1-7C1C-C74C-B79B-40254B48F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9"/>
            <a:ext cx="9724031" cy="26805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To access Vista, you will need the following:</a:t>
            </a:r>
          </a:p>
          <a:p>
            <a:pPr lvl="1"/>
            <a:r>
              <a:rPr lang="en-US" sz="2000" dirty="0"/>
              <a:t>Terminal application that supports SSH</a:t>
            </a:r>
          </a:p>
          <a:p>
            <a:pPr lvl="1"/>
            <a:r>
              <a:rPr lang="en-US" sz="2000" dirty="0"/>
              <a:t>TACC Account</a:t>
            </a:r>
          </a:p>
          <a:p>
            <a:pPr lvl="1"/>
            <a:r>
              <a:rPr lang="en-US" sz="2000" dirty="0"/>
              <a:t>Enable TACC MFA for your account on the TACC User Portal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Member of a project with an active Vista allocation</a:t>
            </a:r>
          </a:p>
          <a:p>
            <a:pPr marL="457200" indent="-457200"/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021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97284-F445-A94C-AD28-A422577E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Logging In: What do I see?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D8B6D-BF65-E14A-A1B9-40AF70335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85279"/>
            <a:ext cx="9724031" cy="259095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 Project Membership</a:t>
            </a:r>
          </a:p>
          <a:p>
            <a:r>
              <a:rPr lang="en-US" sz="2000" dirty="0"/>
              <a:t>Available SUs (and expiration date)</a:t>
            </a:r>
          </a:p>
          <a:p>
            <a:r>
              <a:rPr lang="en-US" sz="2000" dirty="0"/>
              <a:t>Disk Quotas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526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A2DCC3-A90A-92D6-0539-1ADDA70CF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802" y="488977"/>
            <a:ext cx="8718395" cy="5880045"/>
          </a:xfrm>
        </p:spPr>
      </p:pic>
    </p:spTree>
    <p:extLst>
      <p:ext uri="{BB962C8B-B14F-4D97-AF65-F5344CB8AC3E}">
        <p14:creationId xmlns:p14="http://schemas.microsoft.com/office/powerpoint/2010/main" val="204255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FC956-1D33-678C-3206-5C0881FB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Vista File Management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D8087-D042-CD86-E0F9-044498260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536879"/>
          </a:xfrm>
        </p:spPr>
        <p:txBody>
          <a:bodyPr anchor="ctr">
            <a:noAutofit/>
          </a:bodyPr>
          <a:lstStyle/>
          <a:p>
            <a:r>
              <a:rPr lang="en-US" sz="1600" dirty="0"/>
              <a:t>Comprised of three file systems:</a:t>
            </a:r>
          </a:p>
          <a:p>
            <a:pPr lvl="1"/>
            <a:r>
              <a:rPr lang="en-US" sz="1600" dirty="0"/>
              <a:t>$HOME</a:t>
            </a:r>
          </a:p>
          <a:p>
            <a:pPr lvl="2"/>
            <a:r>
              <a:rPr lang="en-US" sz="1600" dirty="0"/>
              <a:t>Quota of 23GB or 500,000 files</a:t>
            </a:r>
          </a:p>
          <a:p>
            <a:pPr lvl="2"/>
            <a:r>
              <a:rPr lang="en-US" sz="1600" dirty="0"/>
              <a:t>Not intended for parallel or high-intensity file operations</a:t>
            </a:r>
          </a:p>
          <a:p>
            <a:pPr lvl="2"/>
            <a:r>
              <a:rPr lang="en-US" sz="1600" dirty="0"/>
              <a:t>Backed up regularly</a:t>
            </a:r>
          </a:p>
          <a:p>
            <a:pPr lvl="2"/>
            <a:r>
              <a:rPr lang="en-US" sz="1600" dirty="0"/>
              <a:t>Not purged</a:t>
            </a:r>
          </a:p>
          <a:p>
            <a:pPr lvl="1"/>
            <a:r>
              <a:rPr lang="en-US" sz="1600" dirty="0"/>
              <a:t>$WORK</a:t>
            </a:r>
          </a:p>
          <a:p>
            <a:pPr lvl="2"/>
            <a:r>
              <a:rPr lang="en-US" sz="1600" dirty="0"/>
              <a:t>Quota of 1TB or 3,000,000 files across all TACC systems</a:t>
            </a:r>
          </a:p>
          <a:p>
            <a:pPr lvl="2"/>
            <a:r>
              <a:rPr lang="en-US" sz="1600" dirty="0"/>
              <a:t>Not intended for high-intensity file operations or jobs involving very large files.</a:t>
            </a:r>
          </a:p>
          <a:p>
            <a:pPr lvl="2"/>
            <a:r>
              <a:rPr lang="en-US" sz="1600" dirty="0"/>
              <a:t>Not backed up</a:t>
            </a:r>
          </a:p>
          <a:p>
            <a:pPr lvl="2"/>
            <a:r>
              <a:rPr lang="en-US" sz="1600" dirty="0"/>
              <a:t>Not purged</a:t>
            </a:r>
          </a:p>
          <a:p>
            <a:pPr lvl="1"/>
            <a:r>
              <a:rPr lang="en-US" sz="1600" dirty="0"/>
              <a:t>$SCRATCH</a:t>
            </a:r>
          </a:p>
          <a:p>
            <a:pPr lvl="2"/>
            <a:r>
              <a:rPr lang="en-US" sz="1600" dirty="0"/>
              <a:t>No quota</a:t>
            </a:r>
          </a:p>
          <a:p>
            <a:pPr lvl="2"/>
            <a:r>
              <a:rPr lang="en-US" sz="1600" dirty="0"/>
              <a:t>Intended for high-intensity file operations or jobs involving very large files</a:t>
            </a:r>
          </a:p>
          <a:p>
            <a:pPr lvl="2"/>
            <a:r>
              <a:rPr lang="en-US" sz="1600" dirty="0"/>
              <a:t>Not backed up</a:t>
            </a:r>
          </a:p>
          <a:p>
            <a:pPr lvl="2"/>
            <a:r>
              <a:rPr lang="en-US" sz="1600" dirty="0"/>
              <a:t>Files are subject to purge if access time is more than 10 days old info found </a:t>
            </a:r>
            <a:r>
              <a:rPr lang="en-US" sz="1600" dirty="0">
                <a:hlinkClick r:id="rId2"/>
              </a:rPr>
              <a:t>here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799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0E63D-A425-8617-0DD1-F22BCE5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1" y="288411"/>
            <a:ext cx="5181597" cy="1655482"/>
          </a:xfrm>
        </p:spPr>
        <p:txBody>
          <a:bodyPr anchor="b">
            <a:normAutofit/>
          </a:bodyPr>
          <a:lstStyle/>
          <a:p>
            <a:r>
              <a:rPr lang="en-US" sz="4000" dirty="0"/>
              <a:t>Using the File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17326-82A7-B03E-F007-2F0B94C3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847" y="2232304"/>
            <a:ext cx="5181598" cy="3409898"/>
          </a:xfrm>
        </p:spPr>
        <p:txBody>
          <a:bodyPr anchor="t">
            <a:normAutofit/>
          </a:bodyPr>
          <a:lstStyle/>
          <a:p>
            <a:r>
              <a:rPr lang="en-US" sz="2000" dirty="0"/>
              <a:t>Check quota with /</a:t>
            </a:r>
            <a:r>
              <a:rPr lang="en-US" sz="2000" dirty="0" err="1"/>
              <a:t>usr</a:t>
            </a:r>
            <a:r>
              <a:rPr lang="en-US" sz="2000" dirty="0"/>
              <a:t>/local/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taccinfo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0A96C75-749D-B567-B6C4-A96DF3E1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847" y="2702490"/>
            <a:ext cx="9509764" cy="26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7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BA0B-AEFD-6270-E505-F3326CCB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Navigating the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8DF2-0362-1BB5-0EEF-0F19A51B7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719689"/>
          </a:xfrm>
        </p:spPr>
        <p:txBody>
          <a:bodyPr anchor="ctr">
            <a:noAutofit/>
          </a:bodyPr>
          <a:lstStyle/>
          <a:p>
            <a:r>
              <a:rPr lang="en-US" sz="2000" dirty="0"/>
              <a:t>Basic bash commands:</a:t>
            </a:r>
          </a:p>
          <a:p>
            <a:pPr lvl="1"/>
            <a:r>
              <a:rPr lang="en-US" sz="2000" dirty="0"/>
              <a:t>cd </a:t>
            </a:r>
          </a:p>
          <a:p>
            <a:pPr lvl="2"/>
            <a:r>
              <a:rPr lang="en-US" dirty="0"/>
              <a:t>Change directory: cd $WORK </a:t>
            </a:r>
          </a:p>
          <a:p>
            <a:pPr lvl="1"/>
            <a:r>
              <a:rPr lang="en-US" sz="2000" dirty="0"/>
              <a:t>ls	</a:t>
            </a:r>
          </a:p>
          <a:p>
            <a:pPr lvl="2"/>
            <a:r>
              <a:rPr lang="en-US" dirty="0"/>
              <a:t>List the contents of a directory: Ls -al</a:t>
            </a:r>
          </a:p>
          <a:p>
            <a:pPr lvl="1"/>
            <a:r>
              <a:rPr lang="en-US" sz="2000" dirty="0"/>
              <a:t>mv</a:t>
            </a:r>
          </a:p>
          <a:p>
            <a:pPr lvl="2"/>
            <a:r>
              <a:rPr lang="en-US" dirty="0"/>
              <a:t>Move a file or directory to another directory</a:t>
            </a:r>
          </a:p>
          <a:p>
            <a:pPr lvl="1"/>
            <a:r>
              <a:rPr lang="en-US" sz="2000" dirty="0"/>
              <a:t>cp</a:t>
            </a:r>
          </a:p>
          <a:p>
            <a:pPr lvl="2"/>
            <a:r>
              <a:rPr lang="en-US" dirty="0"/>
              <a:t>Copy a file or directory to a directory: cp &lt;/some/file&gt; &lt;/destination/directory&gt;</a:t>
            </a:r>
          </a:p>
          <a:p>
            <a:pPr lvl="1"/>
            <a:r>
              <a:rPr lang="en-US" sz="2000" dirty="0" err="1"/>
              <a:t>pwd</a:t>
            </a:r>
            <a:endParaRPr lang="en-US" sz="2000" dirty="0"/>
          </a:p>
          <a:p>
            <a:pPr lvl="2"/>
            <a:r>
              <a:rPr lang="en-US" dirty="0"/>
              <a:t>Print working directory to get the file path to your current directory </a:t>
            </a:r>
          </a:p>
        </p:txBody>
      </p:sp>
    </p:spTree>
    <p:extLst>
      <p:ext uri="{BB962C8B-B14F-4D97-AF65-F5344CB8AC3E}">
        <p14:creationId xmlns:p14="http://schemas.microsoft.com/office/powerpoint/2010/main" val="133543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604B5-1AA0-6B20-9A9C-842B2085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Transferring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707F8-54BA-A33D-DE47-17EA464F8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119394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For SSH file transfer utilities we typically use </a:t>
            </a:r>
            <a:r>
              <a:rPr lang="en-US" sz="2000" dirty="0" err="1"/>
              <a:t>scp</a:t>
            </a:r>
            <a:r>
              <a:rPr lang="en-US" sz="2000" dirty="0"/>
              <a:t> or </a:t>
            </a:r>
            <a:r>
              <a:rPr lang="en-US" sz="2000" dirty="0" err="1"/>
              <a:t>rsync</a:t>
            </a:r>
            <a:endParaRPr lang="en-US" sz="2000" dirty="0"/>
          </a:p>
          <a:p>
            <a:pPr lvl="1"/>
            <a:r>
              <a:rPr lang="en-US" sz="2000" dirty="0"/>
              <a:t>Docs for </a:t>
            </a:r>
            <a:r>
              <a:rPr lang="en-US" sz="2000" dirty="0" err="1"/>
              <a:t>scp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Docs for </a:t>
            </a:r>
            <a:r>
              <a:rPr lang="en-US" sz="2000" dirty="0" err="1"/>
              <a:t>rsync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1849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CD046-BCB6-85CF-266C-AE48F3D8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Sharing Project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CB095-6BFF-5943-6389-1F200D849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2304686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The simplest way to have a shared workspace with collaborators that are in your group and part of your allocation is to use </a:t>
            </a:r>
            <a:r>
              <a:rPr lang="en-US" sz="2000" dirty="0" err="1"/>
              <a:t>unix</a:t>
            </a:r>
            <a:r>
              <a:rPr lang="en-US" sz="2000" dirty="0"/>
              <a:t> group level permissions on your files and directories</a:t>
            </a:r>
          </a:p>
          <a:p>
            <a:r>
              <a:rPr lang="en-US" sz="2000" dirty="0"/>
              <a:t>To do this we use the command: </a:t>
            </a:r>
            <a:r>
              <a:rPr lang="en-US" sz="2000" dirty="0" err="1"/>
              <a:t>chmod</a:t>
            </a:r>
            <a:r>
              <a:rPr lang="en-US" sz="2000" dirty="0"/>
              <a:t> 750</a:t>
            </a:r>
          </a:p>
          <a:p>
            <a:pPr lvl="1"/>
            <a:r>
              <a:rPr lang="en-US" sz="2000" dirty="0"/>
              <a:t>This will allow full </a:t>
            </a:r>
            <a:r>
              <a:rPr lang="en-US" sz="2000" dirty="0" err="1"/>
              <a:t>rwx</a:t>
            </a:r>
            <a:r>
              <a:rPr lang="en-US" sz="2000" dirty="0"/>
              <a:t> access for the owner and r-x for your group, allowing them to read and execute those shared files without being able to edit</a:t>
            </a:r>
          </a:p>
          <a:p>
            <a:r>
              <a:rPr lang="en-US" sz="2000" dirty="0"/>
              <a:t>For additional info on sharing project files visit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400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A096-28E4-4853-AC4A-D81A88F1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Vista Overview</a:t>
            </a:r>
          </a:p>
        </p:txBody>
      </p:sp>
      <p:pic>
        <p:nvPicPr>
          <p:cNvPr id="1026" name="Picture 2" descr="Login and Compute Nodes">
            <a:extLst>
              <a:ext uri="{FF2B5EF4-FFF2-40B4-BE49-F238E27FC236}">
                <a16:creationId xmlns:a16="http://schemas.microsoft.com/office/drawing/2014/main" id="{8162CD3F-0265-4E2E-BC3E-A4292A6819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2297018"/>
            <a:ext cx="7214616" cy="223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51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307D7-1DEC-404C-AD87-434AACE9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Good Citizenship on Vista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58F37-6AFC-6056-15ED-A0F0278AD2D2}"/>
              </a:ext>
            </a:extLst>
          </p:cNvPr>
          <p:cNvSpPr txBox="1"/>
          <p:nvPr/>
        </p:nvSpPr>
        <p:spPr>
          <a:xfrm>
            <a:off x="1371599" y="2008314"/>
            <a:ext cx="7848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 run jobs on the login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 stress the shared file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 Input/Output (I/O)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Adhere to file transfer guidelines</a:t>
            </a:r>
          </a:p>
        </p:txBody>
      </p:sp>
    </p:spTree>
    <p:extLst>
      <p:ext uri="{BB962C8B-B14F-4D97-AF65-F5344CB8AC3E}">
        <p14:creationId xmlns:p14="http://schemas.microsoft.com/office/powerpoint/2010/main" val="108357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F1E75-F912-4940-B6AD-05A8604A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Vista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23A7E-F5DD-4087-96C5-FAC1179C8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21397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Production queues (gg, </a:t>
            </a:r>
            <a:r>
              <a:rPr lang="en-US" sz="2000" dirty="0" err="1"/>
              <a:t>gh</a:t>
            </a:r>
            <a:r>
              <a:rPr lang="en-US" sz="2000" dirty="0"/>
              <a:t>, </a:t>
            </a:r>
            <a:r>
              <a:rPr lang="en-US" sz="2000" dirty="0" err="1"/>
              <a:t>gh</a:t>
            </a:r>
            <a:r>
              <a:rPr lang="en-US" sz="2000" dirty="0"/>
              <a:t>-dev)</a:t>
            </a:r>
          </a:p>
          <a:p>
            <a:pPr lvl="1"/>
            <a:r>
              <a:rPr lang="en-US" sz="2000" dirty="0" err="1"/>
              <a:t>qlimits</a:t>
            </a:r>
            <a:r>
              <a:rPr lang="en-US" sz="2000" dirty="0"/>
              <a:t> command displays info on queues</a:t>
            </a:r>
          </a:p>
          <a:p>
            <a:r>
              <a:rPr lang="en-US" sz="2000" dirty="0"/>
              <a:t>SLURM Workload Manager (job scheduler)</a:t>
            </a:r>
          </a:p>
          <a:p>
            <a:pPr lvl="1"/>
            <a:r>
              <a:rPr lang="en-US" sz="2000" dirty="0" err="1"/>
              <a:t>jobID</a:t>
            </a:r>
            <a:r>
              <a:rPr lang="en-US" sz="2000" dirty="0"/>
              <a:t>	</a:t>
            </a:r>
          </a:p>
          <a:p>
            <a:pPr lvl="1"/>
            <a:r>
              <a:rPr lang="en-US" sz="2000" dirty="0"/>
              <a:t>Submit (</a:t>
            </a:r>
            <a:r>
              <a:rPr lang="en-US" sz="2000" dirty="0" err="1"/>
              <a:t>sbatch</a:t>
            </a:r>
            <a:r>
              <a:rPr lang="en-US" sz="2000" dirty="0"/>
              <a:t>, </a:t>
            </a:r>
            <a:r>
              <a:rPr lang="en-US" sz="2000" dirty="0" err="1"/>
              <a:t>idev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Manage and monitor (</a:t>
            </a:r>
            <a:r>
              <a:rPr lang="en-US" sz="2000" dirty="0" err="1"/>
              <a:t>squeue</a:t>
            </a:r>
            <a:r>
              <a:rPr lang="en-US" sz="2000" dirty="0"/>
              <a:t>, </a:t>
            </a:r>
            <a:r>
              <a:rPr lang="en-US" sz="2000" dirty="0" err="1"/>
              <a:t>scontrol</a:t>
            </a:r>
            <a:r>
              <a:rPr lang="en-US" sz="2000" dirty="0"/>
              <a:t>, </a:t>
            </a:r>
            <a:r>
              <a:rPr lang="en-US" sz="2000" dirty="0" err="1"/>
              <a:t>scancel</a:t>
            </a:r>
            <a:r>
              <a:rPr lang="en-US" sz="2000" dirty="0"/>
              <a:t>)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133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D8B1A-2D2A-4619-AF56-6B3BE957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489508"/>
            <a:ext cx="5181597" cy="1655482"/>
          </a:xfrm>
        </p:spPr>
        <p:txBody>
          <a:bodyPr anchor="b">
            <a:normAutofit/>
          </a:bodyPr>
          <a:lstStyle/>
          <a:p>
            <a:r>
              <a:rPr lang="en-US" sz="4000" dirty="0" err="1"/>
              <a:t>idev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A4DD-97FA-4725-BCC9-2D29CAE3A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2" y="2305487"/>
            <a:ext cx="5828597" cy="3809065"/>
          </a:xfrm>
        </p:spPr>
        <p:txBody>
          <a:bodyPr anchor="t">
            <a:normAutofit/>
          </a:bodyPr>
          <a:lstStyle/>
          <a:p>
            <a:r>
              <a:rPr lang="en-US" sz="2000" dirty="0"/>
              <a:t>Uses SLURM to start an interactive session on a compute node</a:t>
            </a:r>
          </a:p>
          <a:p>
            <a:r>
              <a:rPr lang="en-US" sz="2000" dirty="0"/>
              <a:t>30 minutes, single node, development queue</a:t>
            </a:r>
          </a:p>
          <a:p>
            <a:r>
              <a:rPr lang="en-US" sz="2000" dirty="0"/>
              <a:t>Perfect for compiling, running </a:t>
            </a:r>
            <a:r>
              <a:rPr lang="en-US" sz="2000" dirty="0" err="1"/>
              <a:t>i</a:t>
            </a:r>
            <a:r>
              <a:rPr lang="en-US" sz="2000" dirty="0"/>
              <a:t>/o intensive applications, testing </a:t>
            </a:r>
            <a:r>
              <a:rPr lang="en-US" sz="2000" dirty="0" err="1"/>
              <a:t>sbatch</a:t>
            </a:r>
            <a:r>
              <a:rPr lang="en-US" sz="2000" dirty="0"/>
              <a:t> jobs before submitting them as an </a:t>
            </a:r>
            <a:r>
              <a:rPr lang="en-US" sz="2000" dirty="0" err="1"/>
              <a:t>sbatch</a:t>
            </a:r>
            <a:r>
              <a:rPr lang="en-US" sz="2000" dirty="0"/>
              <a:t> job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endParaRPr lang="en-US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541A4C-AE0C-3984-ECB8-D63919B8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303" y="1284367"/>
            <a:ext cx="5543580" cy="428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68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4D3DC-D93B-4FFB-A1A7-F461AEE0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Exit an idev session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F15303B-79D5-6902-FB4D-78A58420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52" y="2466803"/>
            <a:ext cx="9607496" cy="192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93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4D3DC-D93B-4FFB-A1A7-F461AEE0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Submitting a job using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sbatch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E8036-4559-4B24-B8A7-943435A78BA3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BB301-650D-2DDC-03EE-860D80883F74}"/>
              </a:ext>
            </a:extLst>
          </p:cNvPr>
          <p:cNvSpPr txBox="1"/>
          <p:nvPr/>
        </p:nvSpPr>
        <p:spPr>
          <a:xfrm>
            <a:off x="1371599" y="1891970"/>
            <a:ext cx="7668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Uses #SBATCH directives to request computing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table of common #SBATCH options can be found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Sbatch</a:t>
            </a:r>
            <a:r>
              <a:rPr lang="en-US" sz="2000" dirty="0"/>
              <a:t> jobs are meant for applications that do not require any interactivity from the user</a:t>
            </a:r>
          </a:p>
        </p:txBody>
      </p:sp>
    </p:spTree>
    <p:extLst>
      <p:ext uri="{BB962C8B-B14F-4D97-AF65-F5344CB8AC3E}">
        <p14:creationId xmlns:p14="http://schemas.microsoft.com/office/powerpoint/2010/main" val="374374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4D3DC-D93B-4FFB-A1A7-F461AEE0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SLURM batch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3B71D-65D2-4DCF-9D1E-083D87ED65CE}"/>
              </a:ext>
            </a:extLst>
          </p:cNvPr>
          <p:cNvSpPr txBox="1"/>
          <p:nvPr/>
        </p:nvSpPr>
        <p:spPr>
          <a:xfrm>
            <a:off x="5674289" y="194955"/>
            <a:ext cx="5691315" cy="6185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#!/bin/bash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-J </a:t>
            </a:r>
            <a:r>
              <a:rPr lang="en-US" sz="1600" dirty="0" err="1"/>
              <a:t>myjob</a:t>
            </a:r>
            <a:r>
              <a:rPr lang="en-US" sz="1600" dirty="0"/>
              <a:t>           # Job name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-o </a:t>
            </a:r>
            <a:r>
              <a:rPr lang="en-US" sz="1600" dirty="0" err="1"/>
              <a:t>myjob.o%j</a:t>
            </a:r>
            <a:r>
              <a:rPr lang="en-US" sz="1600" dirty="0"/>
              <a:t>       # Name of </a:t>
            </a:r>
            <a:r>
              <a:rPr lang="en-US" sz="1600" dirty="0" err="1"/>
              <a:t>stdout</a:t>
            </a:r>
            <a:r>
              <a:rPr lang="en-US" sz="1600" dirty="0"/>
              <a:t> output file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-e </a:t>
            </a:r>
            <a:r>
              <a:rPr lang="en-US" sz="1600" dirty="0" err="1"/>
              <a:t>myjob.e%j</a:t>
            </a:r>
            <a:r>
              <a:rPr lang="en-US" sz="1600" dirty="0"/>
              <a:t>       # Name of stderr error file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-p gg           # Queue (partition) name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-N 1               # Total # of nodes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-n 144              # Total # of </a:t>
            </a:r>
            <a:r>
              <a:rPr lang="en-US" sz="1600" dirty="0" err="1"/>
              <a:t>mpi</a:t>
            </a:r>
            <a:r>
              <a:rPr lang="en-US" sz="1600" dirty="0"/>
              <a:t> tasks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-t 00:05:00        # Run time (</a:t>
            </a:r>
            <a:r>
              <a:rPr lang="en-US" sz="1600" dirty="0" err="1"/>
              <a:t>hh:mm:ss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--mail-type=all    # Send email at begin and end of job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-A &lt;your allocation&gt;          # Project/Allocation name (</a:t>
            </a:r>
            <a:r>
              <a:rPr lang="en-US" sz="1600" dirty="0" err="1"/>
              <a:t>req'd</a:t>
            </a:r>
            <a:r>
              <a:rPr lang="en-US" sz="1600" dirty="0"/>
              <a:t> if you have more than 1)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#SBATCH --mail-user= &lt;your email here&gt;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 Any other commands must follow all #SBATCH directives...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module list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/>
              <a:t>pwd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date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# Launch code...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echo  “Hello World”       # Use </a:t>
            </a:r>
            <a:r>
              <a:rPr lang="en-US" sz="1600" dirty="0" err="1"/>
              <a:t>ibrun</a:t>
            </a:r>
            <a:r>
              <a:rPr lang="en-US" sz="1600" dirty="0"/>
              <a:t> instead of </a:t>
            </a:r>
            <a:r>
              <a:rPr lang="en-US" sz="1600" dirty="0" err="1"/>
              <a:t>mpirun</a:t>
            </a:r>
            <a:r>
              <a:rPr lang="en-US" sz="1600" dirty="0"/>
              <a:t> or </a:t>
            </a:r>
            <a:r>
              <a:rPr lang="en-US" sz="1600" dirty="0" err="1"/>
              <a:t>mpiexec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72336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C1E20-1CFA-1946-9E16-0185A3AF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Submitting the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F0511-FB54-6F4D-AAB9-65B9EAE5B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140711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To submit the SLURM Batch job use the following command: </a:t>
            </a:r>
            <a:r>
              <a:rPr lang="en-US" sz="2000" dirty="0" err="1"/>
              <a:t>sbatch</a:t>
            </a:r>
            <a:r>
              <a:rPr lang="en-US" sz="2000" dirty="0"/>
              <a:t> </a:t>
            </a:r>
            <a:r>
              <a:rPr lang="en-US" sz="2000" dirty="0" err="1"/>
              <a:t>batchjob.sh</a:t>
            </a:r>
            <a:endParaRPr lang="en-US" sz="2000" dirty="0"/>
          </a:p>
          <a:p>
            <a:r>
              <a:rPr lang="en-US" sz="2000" dirty="0"/>
              <a:t>This should generate a text output to let you know about the parameters of the job and then provide you with a Job ID once the job has successfully been admitted to the queues</a:t>
            </a:r>
          </a:p>
        </p:txBody>
      </p:sp>
    </p:spTree>
    <p:extLst>
      <p:ext uri="{BB962C8B-B14F-4D97-AF65-F5344CB8AC3E}">
        <p14:creationId xmlns:p14="http://schemas.microsoft.com/office/powerpoint/2010/main" val="869856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C1E20-1CFA-1946-9E16-0185A3AF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Submitting the job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06A38C-72B0-4E50-9A98-F6F86A91A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379965"/>
            <a:ext cx="11327549" cy="362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03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BC547-89E9-74D0-9A40-4C22D704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Check Status of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A171-1BD2-8E54-07B3-530A8C93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2128885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 err="1"/>
              <a:t>squeue</a:t>
            </a:r>
            <a:r>
              <a:rPr lang="en-US" sz="2000" dirty="0"/>
              <a:t> -u &lt;your username&gt;</a:t>
            </a:r>
          </a:p>
          <a:p>
            <a:r>
              <a:rPr lang="en-US" sz="2000" dirty="0" err="1"/>
              <a:t>squeue</a:t>
            </a:r>
            <a:r>
              <a:rPr lang="en-US" sz="2000" dirty="0"/>
              <a:t> -j &lt;job id or comma delimited list of job ids&gt;</a:t>
            </a:r>
          </a:p>
          <a:p>
            <a:r>
              <a:rPr lang="en-US" sz="2000" dirty="0"/>
              <a:t>Jobs have three states:</a:t>
            </a:r>
          </a:p>
          <a:p>
            <a:pPr lvl="1"/>
            <a:r>
              <a:rPr lang="en-US" sz="2000" dirty="0"/>
              <a:t>PD means Pending </a:t>
            </a:r>
          </a:p>
          <a:p>
            <a:pPr lvl="1"/>
            <a:r>
              <a:rPr lang="en-US" sz="2000" dirty="0"/>
              <a:t>R means Running</a:t>
            </a:r>
          </a:p>
          <a:p>
            <a:pPr lvl="1"/>
            <a:r>
              <a:rPr lang="en-US" sz="2000" dirty="0"/>
              <a:t>CG means Completing (cleaning up after exiting the job)</a:t>
            </a:r>
          </a:p>
        </p:txBody>
      </p:sp>
    </p:spTree>
    <p:extLst>
      <p:ext uri="{BB962C8B-B14F-4D97-AF65-F5344CB8AC3E}">
        <p14:creationId xmlns:p14="http://schemas.microsoft.com/office/powerpoint/2010/main" val="3078880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9687D-B957-DB43-9A7B-781AFC85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Cleaning up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17D79-D283-2C49-AAB6-05ECDD36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187834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When your batch job has finished running it will automatically be cleared from the queues.</a:t>
            </a:r>
          </a:p>
          <a:p>
            <a:r>
              <a:rPr lang="en-US" sz="2000" dirty="0"/>
              <a:t>Your output will be in the folder you pointed it to within your batch job file. </a:t>
            </a:r>
          </a:p>
          <a:p>
            <a:r>
              <a:rPr lang="en-US" sz="2000" dirty="0"/>
              <a:t>If for some reason you wish to cancel your job while it is still running, you can do so with </a:t>
            </a:r>
            <a:r>
              <a:rPr lang="en-US" sz="2000" dirty="0" err="1"/>
              <a:t>scancel</a:t>
            </a:r>
            <a:r>
              <a:rPr lang="en-US" sz="2000" dirty="0"/>
              <a:t> &lt;</a:t>
            </a:r>
            <a:r>
              <a:rPr lang="en-US" sz="2000" dirty="0" err="1"/>
              <a:t>jobID</a:t>
            </a:r>
            <a:r>
              <a:rPr lang="en-US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34767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89AA2-A7AD-CB1D-1B24-64035F9D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Tacc Analysis Portal (TAP)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42659-AD21-217D-4D8C-F0B702EC2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205585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Web portal interface that allows users to run DCV, VNC, </a:t>
            </a:r>
            <a:r>
              <a:rPr lang="en-US" sz="2000" dirty="0" err="1"/>
              <a:t>Jupyter</a:t>
            </a:r>
            <a:r>
              <a:rPr lang="en-US" sz="2000" dirty="0"/>
              <a:t> Notebook, and </a:t>
            </a:r>
            <a:r>
              <a:rPr lang="en-US" sz="2000" dirty="0" err="1"/>
              <a:t>Rstudio</a:t>
            </a:r>
            <a:r>
              <a:rPr lang="en-US" sz="2000" dirty="0"/>
              <a:t> sessions interactively with an available display</a:t>
            </a:r>
          </a:p>
          <a:p>
            <a:r>
              <a:rPr lang="en-US" sz="2000" dirty="0"/>
              <a:t>Very useful for interactive development with data visualization eliminating the need to copy files to local to view generated images/figures</a:t>
            </a:r>
          </a:p>
          <a:p>
            <a:r>
              <a:rPr lang="en-US" sz="2000" dirty="0"/>
              <a:t>Documents page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3611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16877-C5CC-2644-DB28-D5AA4C55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Monitoring Jobs IO Do’s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F798-3505-06D7-B294-E26BC288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Do:</a:t>
            </a:r>
          </a:p>
          <a:p>
            <a:pPr lvl="1"/>
            <a:r>
              <a:rPr lang="en-US" sz="2000" dirty="0"/>
              <a:t>Use $SCRATCH for production jobs and take advantage of /</a:t>
            </a:r>
            <a:r>
              <a:rPr lang="en-US" sz="2000" dirty="0" err="1"/>
              <a:t>tmp</a:t>
            </a:r>
            <a:r>
              <a:rPr lang="en-US" sz="2000" dirty="0"/>
              <a:t> space if possible info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Work with large files rather than many tiny files if possible</a:t>
            </a:r>
          </a:p>
          <a:p>
            <a:pPr lvl="1"/>
            <a:r>
              <a:rPr lang="en-US" sz="2000" dirty="0"/>
              <a:t>Use a single stripe for small files and stripe large files on the </a:t>
            </a:r>
            <a:r>
              <a:rPr lang="en-US" sz="2000" dirty="0" err="1"/>
              <a:t>Lustre</a:t>
            </a:r>
            <a:r>
              <a:rPr lang="en-US" sz="2000" dirty="0"/>
              <a:t> file systems info on striping </a:t>
            </a:r>
            <a:r>
              <a:rPr lang="en-US" sz="2000" dirty="0">
                <a:hlinkClick r:id="rId3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Open/close only once for each file if possible rather than conducting open/close/state operations repetitively</a:t>
            </a:r>
          </a:p>
          <a:p>
            <a:pPr lvl="1"/>
            <a:r>
              <a:rPr lang="en-US" sz="2000" dirty="0"/>
              <a:t>Use scalable Parallel I/O libraries, like phdf5, </a:t>
            </a:r>
            <a:r>
              <a:rPr lang="en-US" sz="2000" dirty="0" err="1"/>
              <a:t>pnetcdf</a:t>
            </a:r>
            <a:r>
              <a:rPr lang="en-US" sz="2000" dirty="0"/>
              <a:t>, PIO</a:t>
            </a:r>
          </a:p>
          <a:p>
            <a:pPr lvl="1"/>
            <a:r>
              <a:rPr lang="en-US" sz="2000" dirty="0"/>
              <a:t>Install Python/R modules under $SCRATCH</a:t>
            </a:r>
          </a:p>
          <a:p>
            <a:pPr lvl="1"/>
            <a:r>
              <a:rPr lang="en-US" sz="2000" dirty="0"/>
              <a:t>Copy Python/R modules under /</a:t>
            </a:r>
            <a:r>
              <a:rPr lang="en-US" sz="2000" dirty="0" err="1"/>
              <a:t>tmp</a:t>
            </a:r>
            <a:r>
              <a:rPr lang="en-US" sz="2000" dirty="0"/>
              <a:t> for large-scale runs Use </a:t>
            </a:r>
            <a:r>
              <a:rPr lang="en-US" sz="2000" dirty="0" err="1"/>
              <a:t>Python_Cacher</a:t>
            </a:r>
            <a:endParaRPr lang="en-US" sz="2000" dirty="0"/>
          </a:p>
          <a:p>
            <a:pPr lvl="1"/>
            <a:r>
              <a:rPr lang="en-US" sz="2000" dirty="0"/>
              <a:t>Use profilers or I/O monitoring tools when necessary</a:t>
            </a:r>
            <a:br>
              <a:rPr lang="en-US" sz="1700" dirty="0"/>
            </a:b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211485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41455-9480-CBCB-831E-DC10B810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File Striping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C5E8-B59D-8D79-960D-210AC73B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Lustre</a:t>
            </a:r>
            <a:r>
              <a:rPr lang="en-US" sz="2000" dirty="0"/>
              <a:t> can stripe (distribute) large files over several physical disks, making it possible to deliver the high performance needed to service input/output (I/O) requests from hundreds of users across thousands of nodes</a:t>
            </a:r>
          </a:p>
          <a:p>
            <a:r>
              <a:rPr lang="en-US" sz="2000" dirty="0"/>
              <a:t>a file with 16 stripes, for example, is distributed across 16 OSTs</a:t>
            </a:r>
          </a:p>
          <a:p>
            <a:r>
              <a:rPr lang="en-US" sz="2000" dirty="0"/>
              <a:t>A good rule of thumb is to allow at least one stripe per 100GB in the file.</a:t>
            </a:r>
          </a:p>
          <a:p>
            <a:pPr lvl="1"/>
            <a:r>
              <a:rPr lang="en-US" sz="2000" dirty="0"/>
              <a:t>While the $WORK file system has hundreds of OSTs $SCRATCH has far fewer meaning we need to limit the stripe count to no more than 8</a:t>
            </a:r>
          </a:p>
          <a:p>
            <a:r>
              <a:rPr lang="en-US" sz="2000" dirty="0"/>
              <a:t>$WORK striping ex: </a:t>
            </a:r>
            <a:r>
              <a:rPr lang="en-US" sz="2000" dirty="0" err="1"/>
              <a:t>lfs</a:t>
            </a:r>
            <a:r>
              <a:rPr lang="en-US" sz="2000" dirty="0"/>
              <a:t> </a:t>
            </a:r>
            <a:r>
              <a:rPr lang="en-US" sz="2000" dirty="0" err="1"/>
              <a:t>setstripe</a:t>
            </a:r>
            <a:r>
              <a:rPr lang="en-US" sz="2000" dirty="0"/>
              <a:t> -c 12 $PWD</a:t>
            </a:r>
          </a:p>
          <a:p>
            <a:r>
              <a:rPr lang="en-US" sz="2000" dirty="0"/>
              <a:t>$SCRATCH striping ex: </a:t>
            </a:r>
            <a:r>
              <a:rPr lang="en-US" sz="2000" dirty="0" err="1"/>
              <a:t>lfs</a:t>
            </a:r>
            <a:r>
              <a:rPr lang="en-US" sz="2000" dirty="0"/>
              <a:t> </a:t>
            </a:r>
            <a:r>
              <a:rPr lang="en-US" sz="2000" dirty="0" err="1"/>
              <a:t>setstripe</a:t>
            </a:r>
            <a:r>
              <a:rPr lang="en-US" sz="2000" dirty="0"/>
              <a:t> -c 8 $PWD</a:t>
            </a:r>
          </a:p>
          <a:p>
            <a:r>
              <a:rPr lang="en-US" sz="2000" dirty="0"/>
              <a:t>To get the stripe count for a file or directory use the command: </a:t>
            </a:r>
            <a:r>
              <a:rPr lang="en-US" sz="2000" dirty="0" err="1"/>
              <a:t>lfs</a:t>
            </a:r>
            <a:r>
              <a:rPr lang="en-US" sz="2000" dirty="0"/>
              <a:t> </a:t>
            </a:r>
            <a:r>
              <a:rPr lang="en-US" sz="2000" dirty="0" err="1"/>
              <a:t>getstripe</a:t>
            </a:r>
            <a:r>
              <a:rPr lang="en-US" sz="2000" dirty="0"/>
              <a:t> </a:t>
            </a:r>
            <a:r>
              <a:rPr lang="en-US" sz="2000" dirty="0" err="1"/>
              <a:t>myfile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808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EFC9B-6ED0-E26D-BFAB-D4677184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Job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C551A-8C62-C2E8-236A-0FB2D373C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302727"/>
          </a:xfrm>
        </p:spPr>
        <p:txBody>
          <a:bodyPr anchor="ctr">
            <a:noAutofit/>
          </a:bodyPr>
          <a:lstStyle/>
          <a:p>
            <a:r>
              <a:rPr lang="en-US" sz="2000" dirty="0"/>
              <a:t>REMORA or </a:t>
            </a:r>
            <a:r>
              <a:rPr lang="en-US" sz="2000" b="1" dirty="0" err="1"/>
              <a:t>RE</a:t>
            </a:r>
            <a:r>
              <a:rPr lang="en-US" sz="2000" dirty="0" err="1"/>
              <a:t>source</a:t>
            </a:r>
            <a:r>
              <a:rPr lang="en-US" sz="2000" dirty="0"/>
              <a:t> </a:t>
            </a:r>
            <a:r>
              <a:rPr lang="en-US" sz="2000" b="1" dirty="0" err="1"/>
              <a:t>MO</a:t>
            </a:r>
            <a:r>
              <a:rPr lang="en-US" sz="2000" dirty="0" err="1"/>
              <a:t>nitoring</a:t>
            </a:r>
            <a:r>
              <a:rPr lang="en-US" sz="2000" dirty="0"/>
              <a:t> for </a:t>
            </a:r>
            <a:r>
              <a:rPr lang="en-US" sz="2000" b="1" dirty="0"/>
              <a:t>R</a:t>
            </a:r>
            <a:r>
              <a:rPr lang="en-US" sz="2000" dirty="0"/>
              <a:t>emote </a:t>
            </a:r>
            <a:r>
              <a:rPr lang="en-US" sz="2000" b="1" dirty="0"/>
              <a:t>A</a:t>
            </a:r>
            <a:r>
              <a:rPr lang="en-US" sz="2000" dirty="0"/>
              <a:t>pplications link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Remora provides a simple interface to gather important system utilization data while running on HPC systems. Remora monitors almost all user activities and provides per-node and per-job resource usage data for users</a:t>
            </a:r>
          </a:p>
          <a:p>
            <a:r>
              <a:rPr lang="en-US" sz="2000" dirty="0"/>
              <a:t>CD Tools or Collect-Distribute link </a:t>
            </a:r>
            <a:r>
              <a:rPr lang="en-US" sz="2000" dirty="0">
                <a:hlinkClick r:id="rId3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has been designed and developed to distribute files or directories to or from the /</a:t>
            </a:r>
            <a:r>
              <a:rPr lang="en-US" sz="2000" dirty="0" err="1"/>
              <a:t>tmp</a:t>
            </a:r>
            <a:r>
              <a:rPr lang="en-US" sz="2000" dirty="0"/>
              <a:t> directory</a:t>
            </a:r>
          </a:p>
          <a:p>
            <a:r>
              <a:rPr lang="en-US" sz="2000" dirty="0"/>
              <a:t>OOOPS or </a:t>
            </a:r>
            <a:r>
              <a:rPr lang="en-US" sz="2000" b="1" dirty="0"/>
              <a:t>O</a:t>
            </a:r>
            <a:r>
              <a:rPr lang="en-US" sz="2000" dirty="0"/>
              <a:t>ptimal </a:t>
            </a:r>
            <a:r>
              <a:rPr lang="en-US" sz="2000" b="1" dirty="0"/>
              <a:t>O</a:t>
            </a:r>
            <a:r>
              <a:rPr lang="en-US" sz="2000" dirty="0"/>
              <a:t>verloaded I/</a:t>
            </a:r>
            <a:r>
              <a:rPr lang="en-US" sz="2000" b="1" dirty="0"/>
              <a:t>O</a:t>
            </a:r>
            <a:r>
              <a:rPr lang="en-US" sz="2000" dirty="0"/>
              <a:t> </a:t>
            </a:r>
            <a:r>
              <a:rPr lang="en-US" sz="2000" b="1" dirty="0"/>
              <a:t>P</a:t>
            </a:r>
            <a:r>
              <a:rPr lang="en-US" sz="2000" dirty="0"/>
              <a:t>rotection </a:t>
            </a:r>
            <a:r>
              <a:rPr lang="en-US" sz="2000" b="1" dirty="0"/>
              <a:t>S</a:t>
            </a:r>
            <a:r>
              <a:rPr lang="en-US" sz="2000" dirty="0"/>
              <a:t>ystem link </a:t>
            </a:r>
            <a:r>
              <a:rPr lang="en-US" sz="2000" dirty="0">
                <a:hlinkClick r:id="rId4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easy-to-use tool to help HPC users optimize heavy I/O requests and reduce the impact of high I/O jobs</a:t>
            </a:r>
          </a:p>
          <a:p>
            <a:r>
              <a:rPr lang="en-US" sz="2000" dirty="0" err="1"/>
              <a:t>Python_Cacher</a:t>
            </a:r>
            <a:r>
              <a:rPr lang="en-US" sz="2000" dirty="0"/>
              <a:t> link </a:t>
            </a:r>
            <a:r>
              <a:rPr lang="en-US" sz="2000" dirty="0">
                <a:hlinkClick r:id="rId5"/>
              </a:rPr>
              <a:t>here</a:t>
            </a:r>
            <a:endParaRPr lang="en-US" sz="2000" dirty="0"/>
          </a:p>
          <a:p>
            <a:pPr lvl="1"/>
            <a:r>
              <a:rPr lang="en-US" sz="2000" dirty="0"/>
              <a:t>For jobs that make use of large numbers of Python modules or use local installations of Python/Anaconda/</a:t>
            </a:r>
            <a:r>
              <a:rPr lang="en-US" sz="2000" dirty="0" err="1"/>
              <a:t>MiniConda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4105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9687D-B957-DB43-9A7B-781AFC85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 Light"/>
              </a:rPr>
              <a:t>Comments, Questions, Cool Stuff?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17D79-D283-2C49-AAB6-05ECDD36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700"/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endParaRPr lang="en-US" sz="1700"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>
                <a:cs typeface="Calibri" panose="020F0502020204030204"/>
              </a:rPr>
              <a:t>Thank you for attending! </a:t>
            </a:r>
          </a:p>
        </p:txBody>
      </p:sp>
    </p:spTree>
    <p:extLst>
      <p:ext uri="{BB962C8B-B14F-4D97-AF65-F5344CB8AC3E}">
        <p14:creationId xmlns:p14="http://schemas.microsoft.com/office/powerpoint/2010/main" val="2285715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1452</TotalTime>
  <Words>1345</Words>
  <Application>Microsoft Macintosh PowerPoint</Application>
  <PresentationFormat>Widescreen</PresentationFormat>
  <Paragraphs>162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Helvetica Neue</vt:lpstr>
      <vt:lpstr>Helvetica Neue Condensed Bold</vt:lpstr>
      <vt:lpstr>Office Theme</vt:lpstr>
      <vt:lpstr>Vista Introduction</vt:lpstr>
      <vt:lpstr>PowerPoint Presentation</vt:lpstr>
      <vt:lpstr>Logging In: What do I need? </vt:lpstr>
      <vt:lpstr>Logging In: What do I see?</vt:lpstr>
      <vt:lpstr>PowerPoint Presentation</vt:lpstr>
      <vt:lpstr>Vista File Management </vt:lpstr>
      <vt:lpstr>Using the File Systems</vt:lpstr>
      <vt:lpstr>Navigating the File System</vt:lpstr>
      <vt:lpstr>Transferring Files</vt:lpstr>
      <vt:lpstr>Sharing Project Files</vt:lpstr>
      <vt:lpstr>Vista Overview</vt:lpstr>
      <vt:lpstr>Good Citizenship on Vista</vt:lpstr>
      <vt:lpstr>Vista </vt:lpstr>
      <vt:lpstr>idev</vt:lpstr>
      <vt:lpstr>Exit an idev session</vt:lpstr>
      <vt:lpstr>Submitting a job using sbatch </vt:lpstr>
      <vt:lpstr>SLURM batch file</vt:lpstr>
      <vt:lpstr>Submitting the job</vt:lpstr>
      <vt:lpstr>Submitting the job</vt:lpstr>
      <vt:lpstr>Check Status of Job</vt:lpstr>
      <vt:lpstr>Cleaning up jobs</vt:lpstr>
      <vt:lpstr>Tacc Analysis Portal (TAP)</vt:lpstr>
      <vt:lpstr>Monitoring Jobs IO Do’s</vt:lpstr>
      <vt:lpstr>File Striping</vt:lpstr>
      <vt:lpstr>Job Tools</vt:lpstr>
      <vt:lpstr>Comments, Questions, Cool Stuff?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Exercises</dc:title>
  <dc:creator>Virginia Trueheart</dc:creator>
  <cp:lastModifiedBy>Jack Gaither</cp:lastModifiedBy>
  <cp:revision>70</cp:revision>
  <dcterms:created xsi:type="dcterms:W3CDTF">2018-10-09T19:02:19Z</dcterms:created>
  <dcterms:modified xsi:type="dcterms:W3CDTF">2025-09-30T18:53:45Z</dcterms:modified>
</cp:coreProperties>
</file>